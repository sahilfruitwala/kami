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b4a7e673d2411d" /><Relationship Type="http://schemas.openxmlformats.org/officeDocument/2006/relationships/extended-properties" Target="/docProps/app.xml" Id="R0a2392d3d4b84ad2" /><Relationship Type="http://schemas.openxmlformats.org/officeDocument/2006/relationships/officeDocument" Target="/ppt/presentation.xml" Id="Rb61149ead5cb4c7b" /></Relationships>
</file>

<file path=ppt/presentation.xml><?xml version="1.0" encoding="utf-8"?>
<p:presentation xmlns:p="http://schemas.openxmlformats.org/presentationml/2006/main">
  <p:sldMasterIdLst>
    <p:sldMasterId xmlns:r="http://schemas.openxmlformats.org/officeDocument/2006/relationships" id="2147483648" r:id="R3a7e18dbcf7d4838"/>
  </p:sldMasterIdLst>
  <p:notesMasterIdLst>
    <p:notesMasterId xmlns:r="http://schemas.openxmlformats.org/officeDocument/2006/relationships" r:id="Ra1c55544c1c24bdd"/>
  </p:notesMasterIdLst>
  <p:sldIdLst>
    <p:sldId xmlns:r="http://schemas.openxmlformats.org/officeDocument/2006/relationships" id="256" r:id="R99771328808b4036"/>
    <p:sldId xmlns:r="http://schemas.openxmlformats.org/officeDocument/2006/relationships" id="257" r:id="Rff2014c601b346e3"/>
    <p:sldId xmlns:r="http://schemas.openxmlformats.org/officeDocument/2006/relationships" id="258" r:id="Re6a027561f054c34"/>
    <p:sldId xmlns:r="http://schemas.openxmlformats.org/officeDocument/2006/relationships" id="259" r:id="R48c6845891ce4127"/>
    <p:sldId xmlns:r="http://schemas.openxmlformats.org/officeDocument/2006/relationships" id="260" r:id="R8282469162b94027"/>
    <p:sldId xmlns:r="http://schemas.openxmlformats.org/officeDocument/2006/relationships" id="261" r:id="R6d076a323c5f4902"/>
    <p:sldId xmlns:r="http://schemas.openxmlformats.org/officeDocument/2006/relationships" id="262" r:id="R1173f0c408e242e7"/>
    <p:sldId xmlns:r="http://schemas.openxmlformats.org/officeDocument/2006/relationships" id="263" r:id="R344ef2c335484109"/>
    <p:sldId xmlns:r="http://schemas.openxmlformats.org/officeDocument/2006/relationships" id="264" r:id="R8480522ec13f4309"/>
    <p:sldId xmlns:r="http://schemas.openxmlformats.org/officeDocument/2006/relationships" id="265" r:id="Rda2044b7fe9443ff"/>
    <p:sldId xmlns:r="http://schemas.openxmlformats.org/officeDocument/2006/relationships" id="266" r:id="R128e3e80ea864b55"/>
    <p:sldId xmlns:r="http://schemas.openxmlformats.org/officeDocument/2006/relationships" id="267" r:id="R06ebe5bbe94d49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924e0b016a440a" /><Relationship Type="http://schemas.openxmlformats.org/officeDocument/2006/relationships/slideMaster" Target="/ppt/slideMasters/slideMaster1.xml" Id="R3a7e18dbcf7d4838" /><Relationship Type="http://schemas.openxmlformats.org/officeDocument/2006/relationships/notesMaster" Target="/ppt/notesMasters/notesMaster1.xml" Id="Ra1c55544c1c24bdd" /><Relationship Type="http://schemas.openxmlformats.org/officeDocument/2006/relationships/presProps" Target="/ppt/presProps.xml" Id="R56fd5d00d32742f1" /><Relationship Type="http://schemas.openxmlformats.org/officeDocument/2006/relationships/tableStyles" Target="/ppt/tableStyles.xml" Id="Rfdf15863f3f94aa1" /><Relationship Type="http://schemas.openxmlformats.org/officeDocument/2006/relationships/slide" Target="/ppt/slides/slide1.xml" Id="R99771328808b4036" /><Relationship Type="http://schemas.openxmlformats.org/officeDocument/2006/relationships/slide" Target="/ppt/slides/slide2.xml" Id="Rff2014c601b346e3" /><Relationship Type="http://schemas.openxmlformats.org/officeDocument/2006/relationships/slide" Target="/ppt/slides/slide3.xml" Id="Re6a027561f054c34" /><Relationship Type="http://schemas.openxmlformats.org/officeDocument/2006/relationships/slide" Target="/ppt/slides/slide4.xml" Id="R48c6845891ce4127" /><Relationship Type="http://schemas.openxmlformats.org/officeDocument/2006/relationships/slide" Target="/ppt/slides/slide5.xml" Id="R8282469162b94027" /><Relationship Type="http://schemas.openxmlformats.org/officeDocument/2006/relationships/slide" Target="/ppt/slides/slide6.xml" Id="R6d076a323c5f4902" /><Relationship Type="http://schemas.openxmlformats.org/officeDocument/2006/relationships/slide" Target="/ppt/slides/slide7.xml" Id="R1173f0c408e242e7" /><Relationship Type="http://schemas.openxmlformats.org/officeDocument/2006/relationships/slide" Target="/ppt/slides/slide8.xml" Id="R344ef2c335484109" /><Relationship Type="http://schemas.openxmlformats.org/officeDocument/2006/relationships/slide" Target="/ppt/slides/slide9.xml" Id="R8480522ec13f4309" /><Relationship Type="http://schemas.openxmlformats.org/officeDocument/2006/relationships/slide" Target="/ppt/slides/slide10.xml" Id="Rda2044b7fe9443ff" /><Relationship Type="http://schemas.openxmlformats.org/officeDocument/2006/relationships/slide" Target="/ppt/slides/slide11.xml" Id="R128e3e80ea864b55" /><Relationship Type="http://schemas.openxmlformats.org/officeDocument/2006/relationships/slide" Target="/ppt/slides/slide12.xml" Id="R06ebe5bbe94d49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8ee41c0eaf4f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4cb4e4983f4f64" /><Relationship Type="http://schemas.openxmlformats.org/officeDocument/2006/relationships/notesMaster" Target="/ppt/notesMasters/notesMaster1.xml" Id="Re6473722457041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def99d63ae4cbe" /><Relationship Type="http://schemas.openxmlformats.org/officeDocument/2006/relationships/notesMaster" Target="/ppt/notesMasters/notesMaster1.xml" Id="R367076c01b884d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ed4a005cc74c14" /><Relationship Type="http://schemas.openxmlformats.org/officeDocument/2006/relationships/notesMaster" Target="/ppt/notesMasters/notesMaster1.xml" Id="R07c6c8978ff443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15b4df60554e18" /><Relationship Type="http://schemas.openxmlformats.org/officeDocument/2006/relationships/notesMaster" Target="/ppt/notesMasters/notesMaster1.xml" Id="Rccb5c08538104e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3e2b5b908a417b" /><Relationship Type="http://schemas.openxmlformats.org/officeDocument/2006/relationships/notesMaster" Target="/ppt/notesMasters/notesMaster1.xml" Id="R44b3f0fff37941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18fa1567904936" /><Relationship Type="http://schemas.openxmlformats.org/officeDocument/2006/relationships/notesMaster" Target="/ppt/notesMasters/notesMaster1.xml" Id="R4cdfdcf805d540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1734e334bc4fa9" /><Relationship Type="http://schemas.openxmlformats.org/officeDocument/2006/relationships/notesMaster" Target="/ppt/notesMasters/notesMaster1.xml" Id="R6d274b51a8ad46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ebc58bcbf84699" /><Relationship Type="http://schemas.openxmlformats.org/officeDocument/2006/relationships/notesMaster" Target="/ppt/notesMasters/notesMaster1.xml" Id="R416e2f72d8f342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fad4242a3041f8" /><Relationship Type="http://schemas.openxmlformats.org/officeDocument/2006/relationships/notesMaster" Target="/ppt/notesMasters/notesMaster1.xml" Id="Ra5ec8075d503449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1d5b806e3d40a8" /><Relationship Type="http://schemas.openxmlformats.org/officeDocument/2006/relationships/notesMaster" Target="/ppt/notesMasters/notesMaster1.xml" Id="Ra25074b10e3344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3cc031f8ad4b07" /><Relationship Type="http://schemas.openxmlformats.org/officeDocument/2006/relationships/notesMaster" Target="/ppt/notesMasters/notesMaster1.xml" Id="R88084a6fd27f4d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20877d503d4917" /><Relationship Type="http://schemas.openxmlformats.org/officeDocument/2006/relationships/notesMaster" Target="/ppt/notesMasters/notesMaster1.xml" Id="R0e7738d3ed794a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p>
          <a:p xmlns:a="http://schemas.openxmlformats.org/drawingml/2006/main">
            <a:r>
              <a:t>Open with the user problem. KAMI began as a personal library for the things that are easy to save and easy to lose: articles, links, social posts, books, shows, and notes. For this presentation I will focus on the article-capture path because it shows the product experience and the engineering choices in one small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Describe the familiar problem before mentioning the architecture. People save a link because it looks useful. Days later, the tab is gone, the webpage is noisy, and the context is missing. KAMI keeps a readable personal copy with enough metadata to make that item useful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Keep this slide product-focused. A user does not think about parsing HTML or cache keys. They paste a link, see a clean reading view, organize it, and come back later. The rest of the talk explains the work behind that simple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Use this to introduce the system boundaries. The browser calls authenticated server functions. Server code does the sensitive work: it extracts content, talks to the database, and uses Redis when configured. External sources sit behind the server rather than inside the browser.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Walk through the safety and quality checks in order. The point is not to claim that extraction is perfect. It is to show that the design assumes web pages are unpredictable and handles failures deliberately. Mention the 12-second timeout, 2 MB limit, redirect validation, Readability, sanitization, and Jina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Explain that a social post is structured differently from a webpage. KAMI classifies the link as a post or X Article. It tries compatible public readers for structured content, then X oEmbed, then the ordinary page path. The result is normalized into the same article model. Be transparent that platforms can change access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Use the book-on-a-desk analogy. Redis is optional. The database remains the source of truth. KAMI uses short lifetimes for a user library because those records change often, and longer lifetimes for external catalog information because it changes slowly. A write clears that user cache, so the next read is fresh.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This is the important cache trade-off slide. The cache belongs to the user, the cache has a short expiration, and writes explicitly invalidate the user prefix. The implementation also skips oversized library snapshots. If Redis is absent or unhealthy, requests fall through to the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Explain an index as the index of a book. The app uses indexes for paths people actually use, rather than adding them everywhere. Discuss the small write cost and storage cost, then make the payoff concrete: quick library opening, quick archive filter, duplicate prevention.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This is the security story in plain terms. Browser-supplied user IDs do not decide access. Authentication identifies the account on the server. Every data query scopes itself to that account. Article HTML is untrusted and goes through sanitization. Public URL and redirect validation reduce SSRF 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If you have the app running, use this slide only as a bridge and spend two to three minutes showing the flow: save an article, open the clean reader, show metadata, archive it, then return to the library. If a live demo is risky, narrate the flow here. Keep the implementation details out of the demo and return to them during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then questions.</a:t>
            </a:r>
          </a:p>
          <a:p xmlns:a="http://schemas.openxmlformats.org/drawingml/2006/main">
            <a:r>
              <a:t/>
            </a:r>
          </a:p>
          <a:p xmlns:a="http://schemas.openxmlformats.org/drawingml/2006/main">
            <a:r>
              <a:t>Show judgment by naming the next improvements and why they matter. Keep the language conditional. You can say these are the changes I would prioritize after usage data and production feedback. End by inviting questions about product decisions, extraction reliability, caching, or data isolation.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7c636e42414c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20955490f34802" /><Relationship Type="http://schemas.openxmlformats.org/officeDocument/2006/relationships/slideLayout" Target="/ppt/slideLayouts/slideLayout1.xml" Id="Rb92c2c684e4148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2c2c684e4148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1155c8c3564a1d" /><Relationship Type="http://schemas.openxmlformats.org/officeDocument/2006/relationships/notesSlide" Target="/ppt/notesSlides/notesSlide1.xml" Id="Rdebbac70a3da40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41c37574644802" /><Relationship Type="http://schemas.openxmlformats.org/officeDocument/2006/relationships/notesSlide" Target="/ppt/notesSlides/notesSlide2.xml" Id="R6f49dc47f40246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a73f50b1094fcb" /><Relationship Type="http://schemas.openxmlformats.org/officeDocument/2006/relationships/notesSlide" Target="/ppt/notesSlides/notesSlide3.xml" Id="Rad2b7bffa89043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daf468b73e4d69" /><Relationship Type="http://schemas.openxmlformats.org/officeDocument/2006/relationships/notesSlide" Target="/ppt/notesSlides/notesSlide4.xml" Id="R83ef9d597ad946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881e4315d246c4" /><Relationship Type="http://schemas.openxmlformats.org/officeDocument/2006/relationships/notesSlide" Target="/ppt/notesSlides/notesSlide5.xml" Id="R491c38e8128548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efe003b80f46e7" /><Relationship Type="http://schemas.openxmlformats.org/officeDocument/2006/relationships/notesSlide" Target="/ppt/notesSlides/notesSlide6.xml" Id="Ra785fc016e204a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242769c8a154899" /><Relationship Type="http://schemas.openxmlformats.org/officeDocument/2006/relationships/notesSlide" Target="/ppt/notesSlides/notesSlide7.xml" Id="R0d63f0f8323040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4b47db92d34d8c" /><Relationship Type="http://schemas.openxmlformats.org/officeDocument/2006/relationships/notesSlide" Target="/ppt/notesSlides/notesSlide8.xml" Id="Rc0c21cc5afe04f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a9af95dc56a48c2" /><Relationship Type="http://schemas.openxmlformats.org/officeDocument/2006/relationships/notesSlide" Target="/ppt/notesSlides/notesSlide9.xml" Id="R55c4752d61984b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5f99db3dfb4574" /><Relationship Type="http://schemas.openxmlformats.org/officeDocument/2006/relationships/notesSlide" Target="/ppt/notesSlides/notesSlide10.xml" Id="Ra4dc684a346f40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2283787d05f4cee" /><Relationship Type="http://schemas.openxmlformats.org/officeDocument/2006/relationships/notesSlide" Target="/ppt/notesSlides/notesSlide11.xml" Id="Rb4578d3716d8495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5d8035f02334d6a" /><Relationship Type="http://schemas.openxmlformats.org/officeDocument/2006/relationships/notesSlide" Target="/ppt/notesSlides/notesSlide12.xml" Id="R078d455bdafe4f05" /></Relationships>
</file>

<file path=ppt/slides/slide1.xml><?xml version="1.0" encoding="utf-8"?>
<p:sld xmlns:p="http://schemas.openxmlformats.org/presentationml/2006/main">
  <p:cSld>
    <p:bg>
      <p:bgPr>
        <a:solidFill xmlns:a="http://schemas.openxmlformats.org/drawingml/2006/main">
          <a:srgbClr val="13283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C6BC2B-E3C6-4AE4-9D07-723A74CD14EC}"/>
              </a:ext>
            </a:extLst>
          </p:cNvPr>
          <p:cNvSpPr>
            <a:spLocks xmlns:a="http://schemas.openxmlformats.org/drawingml/2006/main" noGrp="1"/>
          </p:cNvSpPr>
          <p:nvPr/>
        </p:nvSpPr>
        <p:spPr>
          <a:xfrm xmlns:a="http://schemas.openxmlformats.org/drawingml/2006/main">
            <a:off x="685800" y="8763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881"/>
          </a:bodyPr>
          <a:lstStyle xmlns:a="http://schemas.openxmlformats.org/drawingml/2006/main"/>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KAMI</a:t>
            </a:r>
          </a:p>
        </p:txBody>
      </p:sp>
      <p:sp>
        <p:nvSpPr>
          <p:cNvPr id="2" name="">
            <a:extLst xmlns:a="http://schemas.openxmlformats.org/drawingml/2006/main">
              <a:ext uri="{FF2B5EF4-FFF2-40B4-BE49-F238E27FC236}">
                <a16:creationId xmlns:a16="http://schemas.microsoft.com/office/drawing/2014/main" id="{8F33B197-7EBA-4392-AADC-4789B15F2830}"/>
              </a:ext>
            </a:extLst>
          </p:cNvPr>
          <p:cNvSpPr>
            <a:spLocks xmlns:a="http://schemas.openxmlformats.org/drawingml/2006/main" noGrp="1"/>
          </p:cNvSpPr>
          <p:nvPr/>
        </p:nvSpPr>
        <p:spPr>
          <a:xfrm xmlns:a="http://schemas.openxmlformats.org/drawingml/2006/main">
            <a:off x="685800" y="1762125"/>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08"/>
          </a:bodyPr>
          <a:lstStyle xmlns:a="http://schemas.openxmlformats.org/drawingml/2006/main"/>
          <a:p xmlns:a="http://schemas.openxmlformats.org/drawingml/2006/main">
            <a:pPr algn="l">
              <a:defRPr sz="2325" b="0">
                <a:solidFill>
                  <a:srgbClr val="DCEAF0"/>
                </a:solidFill>
                <a:latin typeface="Helvetica Neue"/>
                <a:ea typeface="Helvetica Neue"/>
                <a:cs typeface="Helvetica Neue"/>
              </a:defRPr>
            </a:pPr>
            <a:r>
              <a:rPr sz="2325" b="0">
                <a:solidFill>
                  <a:srgbClr val="DCEAF0"/>
                </a:solidFill>
                <a:latin typeface="Helvetica Neue"/>
                <a:ea typeface="Helvetica Neue"/>
                <a:cs typeface="Helvetica Neue"/>
              </a:rPr>
              <a:t>A personal library for the things you want to return to</a:t>
            </a:r>
          </a:p>
        </p:txBody>
      </p:sp>
      <p:sp>
        <p:nvSpPr>
          <p:cNvPr id="3" name="">
            <a:extLst xmlns:a="http://schemas.openxmlformats.org/drawingml/2006/main">
              <a:ext uri="{FF2B5EF4-FFF2-40B4-BE49-F238E27FC236}">
                <a16:creationId xmlns:a16="http://schemas.microsoft.com/office/drawing/2014/main" id="{E02B176E-8632-435B-A530-CD44F165DC2C}"/>
              </a:ext>
            </a:extLst>
          </p:cNvPr>
          <p:cNvSpPr>
            <a:spLocks xmlns:a="http://schemas.openxmlformats.org/drawingml/2006/main" noGrp="1"/>
          </p:cNvSpPr>
          <p:nvPr/>
        </p:nvSpPr>
        <p:spPr>
          <a:xfrm xmlns:a="http://schemas.openxmlformats.org/drawingml/2006/main">
            <a:off x="685800" y="2781300"/>
            <a:ext cx="4953000" cy="0"/>
          </a:xfrm>
          <a:prstGeom xmlns:a="http://schemas.openxmlformats.org/drawingml/2006/main" prst="line">
            <a:avLst/>
          </a:prstGeom>
          <a:noFill xmlns:a="http://schemas.openxmlformats.org/drawingml/2006/main"/>
          <a:ln xmlns:a="http://schemas.openxmlformats.org/drawingml/2006/main" w="13335">
            <a:solidFill>
              <a:srgbClr val="D8A33B"/>
            </a:solidFill>
          </a:ln>
        </p:spPr>
      </p:sp>
      <p:sp>
        <p:nvSpPr>
          <p:cNvPr id="4" name="">
            <a:extLst xmlns:a="http://schemas.openxmlformats.org/drawingml/2006/main">
              <a:ext uri="{FF2B5EF4-FFF2-40B4-BE49-F238E27FC236}">
                <a16:creationId xmlns:a16="http://schemas.microsoft.com/office/drawing/2014/main" id="{A8F2BD4C-912C-4DE1-9DB1-378AA036D7AE}"/>
              </a:ext>
            </a:extLst>
          </p:cNvPr>
          <p:cNvSpPr>
            <a:spLocks xmlns:a="http://schemas.openxmlformats.org/drawingml/2006/main" noGrp="1"/>
          </p:cNvSpPr>
          <p:nvPr/>
        </p:nvSpPr>
        <p:spPr>
          <a:xfrm xmlns:a="http://schemas.openxmlformats.org/drawingml/2006/main">
            <a:off x="685800" y="31051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B9CDD8"/>
                </a:solidFill>
                <a:latin typeface="Helvetica Neue"/>
                <a:ea typeface="Helvetica Neue"/>
                <a:cs typeface="Helvetica Neue"/>
              </a:defRPr>
            </a:pPr>
            <a:r>
              <a:rPr sz="1350" b="0">
                <a:solidFill>
                  <a:srgbClr val="B9CDD8"/>
                </a:solidFill>
                <a:latin typeface="Helvetica Neue"/>
                <a:ea typeface="Helvetica Neue"/>
                <a:cs typeface="Helvetica Neue"/>
              </a:rPr>
              <a:t>Interview project presentation</a:t>
            </a:r>
          </a:p>
        </p:txBody>
      </p:sp>
      <p:sp>
        <p:nvSpPr>
          <p:cNvPr id="5" name="">
            <a:extLst xmlns:a="http://schemas.openxmlformats.org/drawingml/2006/main">
              <a:ext uri="{FF2B5EF4-FFF2-40B4-BE49-F238E27FC236}">
                <a16:creationId xmlns:a16="http://schemas.microsoft.com/office/drawing/2014/main" id="{13326126-2AEC-40A2-BF09-41763552A386}"/>
              </a:ext>
            </a:extLst>
          </p:cNvPr>
          <p:cNvSpPr>
            <a:spLocks xmlns:a="http://schemas.openxmlformats.org/drawingml/2006/main" noGrp="1"/>
          </p:cNvSpPr>
          <p:nvPr/>
        </p:nvSpPr>
        <p:spPr>
          <a:xfrm xmlns:a="http://schemas.openxmlformats.org/drawingml/2006/main">
            <a:off x="685800" y="35718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0">
                <a:solidFill>
                  <a:srgbClr val="B9CDD8"/>
                </a:solidFill>
                <a:latin typeface="Helvetica Neue"/>
                <a:ea typeface="Helvetica Neue"/>
                <a:cs typeface="Helvetica Neue"/>
              </a:defRPr>
            </a:pPr>
            <a:r>
              <a:rPr sz="1275" b="0">
                <a:solidFill>
                  <a:srgbClr val="B9CDD8"/>
                </a:solidFill>
                <a:latin typeface="Helvetica Neue"/>
                <a:ea typeface="Helvetica Neue"/>
                <a:cs typeface="Helvetica Neue"/>
              </a:rPr>
              <a:t>20 to 25 minutes</a:t>
            </a:r>
          </a:p>
        </p:txBody>
      </p:sp>
      <p:sp>
        <p:nvSpPr>
          <p:cNvPr id="6" name="">
            <a:extLst xmlns:a="http://schemas.openxmlformats.org/drawingml/2006/main">
              <a:ext uri="{FF2B5EF4-FFF2-40B4-BE49-F238E27FC236}">
                <a16:creationId xmlns:a16="http://schemas.microsoft.com/office/drawing/2014/main" id="{EAB4B460-9A46-47DF-BD8E-A577C6B1C0CB}"/>
              </a:ext>
            </a:extLst>
          </p:cNvPr>
          <p:cNvSpPr>
            <a:spLocks xmlns:a="http://schemas.openxmlformats.org/drawingml/2006/main" noGrp="1"/>
          </p:cNvSpPr>
          <p:nvPr/>
        </p:nvSpPr>
        <p:spPr>
          <a:xfrm xmlns:a="http://schemas.openxmlformats.org/drawingml/2006/main">
            <a:off x="685800" y="489585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Saving links should produce a readable, private, reliable library.</a:t>
            </a:r>
          </a:p>
        </p:txBody>
      </p:sp>
    </p:spTree>
    <p:extLst>
      <p:ext uri="{BB962C8B-B14F-4D97-AF65-F5344CB8AC3E}">
        <p14:creationId xmlns:p14="http://schemas.microsoft.com/office/powerpoint/2010/main" val="3891835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D31A4FC-C07A-4F81-A8CB-BB0E38A7C838}"/>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The problem KAMI solves</a:t>
            </a:r>
          </a:p>
        </p:txBody>
      </p:sp>
      <p:sp>
        <p:nvSpPr>
          <p:cNvPr id="2" name="">
            <a:extLst xmlns:a="http://schemas.openxmlformats.org/drawingml/2006/main">
              <a:ext uri="{FF2B5EF4-FFF2-40B4-BE49-F238E27FC236}">
                <a16:creationId xmlns:a16="http://schemas.microsoft.com/office/drawing/2014/main" id="{F24641A9-9C49-450C-999E-7A4865FF3F8E}"/>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B66DC6DE-8870-417A-8A9D-ED3F53966E98}"/>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0BE5A8C7-6FB7-40FA-BE3D-A067BB53E245}"/>
              </a:ext>
            </a:extLst>
          </p:cNvPr>
          <p:cNvSpPr>
            <a:spLocks xmlns:a="http://schemas.openxmlformats.org/drawingml/2006/main" noGrp="1"/>
          </p:cNvSpPr>
          <p:nvPr/>
        </p:nvSpPr>
        <p:spPr>
          <a:xfrm xmlns:a="http://schemas.openxmlformats.org/drawingml/2006/main">
            <a:off x="666750" y="14097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143"/>
          </a:bodyPr>
          <a:lstStyle xmlns:a="http://schemas.openxmlformats.org/drawingml/2006/main"/>
          <a:p xmlns:a="http://schemas.openxmlformats.org/drawingml/2006/main">
            <a:pPr algn="l">
              <a:defRPr sz="2175" b="1">
                <a:solidFill>
                  <a:srgbClr val="13283C"/>
                </a:solidFill>
                <a:latin typeface="Helvetica Neue"/>
                <a:ea typeface="Helvetica Neue"/>
                <a:cs typeface="Helvetica Neue"/>
              </a:defRPr>
            </a:pPr>
            <a:r>
              <a:rPr sz="2175" b="1">
                <a:solidFill>
                  <a:srgbClr val="13283C"/>
                </a:solidFill>
                <a:latin typeface="Helvetica Neue"/>
                <a:ea typeface="Helvetica Neue"/>
                <a:cs typeface="Helvetica Neue"/>
              </a:rPr>
              <a:t>Saving a link often preserves the address but loses the reading experience.</a:t>
            </a:r>
          </a:p>
        </p:txBody>
      </p:sp>
      <p:sp>
        <p:nvSpPr>
          <p:cNvPr id="5" name="">
            <a:extLst xmlns:a="http://schemas.openxmlformats.org/drawingml/2006/main">
              <a:ext uri="{FF2B5EF4-FFF2-40B4-BE49-F238E27FC236}">
                <a16:creationId xmlns:a16="http://schemas.microsoft.com/office/drawing/2014/main" id="{75C2EC4A-E2E4-4485-BE7B-33242C2FF6BA}"/>
              </a:ext>
            </a:extLst>
          </p:cNvPr>
          <p:cNvSpPr>
            <a:spLocks xmlns:a="http://schemas.openxmlformats.org/drawingml/2006/main" noGrp="1"/>
          </p:cNvSpPr>
          <p:nvPr/>
        </p:nvSpPr>
        <p:spPr>
          <a:xfrm xmlns:a="http://schemas.openxmlformats.org/drawingml/2006/main">
            <a:off x="876300" y="27146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2A668F"/>
                </a:solidFill>
                <a:latin typeface="Helvetica Neue"/>
                <a:ea typeface="Helvetica Neue"/>
                <a:cs typeface="Helvetica Neue"/>
              </a:defRPr>
            </a:pPr>
            <a:r>
              <a:rPr sz="1575" b="1">
                <a:solidFill>
                  <a:srgbClr val="2A668F"/>
                </a:solidFill>
                <a:latin typeface="Helvetica Neue"/>
                <a:ea typeface="Helvetica Neue"/>
                <a:cs typeface="Helvetica Neue"/>
              </a:rPr>
              <a:t>Source page</a:t>
            </a:r>
          </a:p>
        </p:txBody>
      </p:sp>
      <p:sp>
        <p:nvSpPr>
          <p:cNvPr id="6" name="">
            <a:extLst xmlns:a="http://schemas.openxmlformats.org/drawingml/2006/main">
              <a:ext uri="{FF2B5EF4-FFF2-40B4-BE49-F238E27FC236}">
                <a16:creationId xmlns:a16="http://schemas.microsoft.com/office/drawing/2014/main" id="{9800BDCC-A5FA-40FB-87F6-8A3E5FAEB086}"/>
              </a:ext>
            </a:extLst>
          </p:cNvPr>
          <p:cNvSpPr>
            <a:spLocks xmlns:a="http://schemas.openxmlformats.org/drawingml/2006/main" noGrp="1"/>
          </p:cNvSpPr>
          <p:nvPr/>
        </p:nvSpPr>
        <p:spPr>
          <a:xfrm xmlns:a="http://schemas.openxmlformats.org/drawingml/2006/main">
            <a:off x="876300" y="3257550"/>
            <a:ext cx="2381250" cy="163830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Ads</a:t>
            </a:r>
          </a:p>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Navigation</a:t>
            </a:r>
          </a:p>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Cookie banners</a:t>
            </a:r>
          </a:p>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Layout changes</a:t>
            </a:r>
          </a:p>
        </p:txBody>
      </p:sp>
      <p:sp>
        <p:nvSpPr>
          <p:cNvPr id="7" name="">
            <a:extLst xmlns:a="http://schemas.openxmlformats.org/drawingml/2006/main">
              <a:ext uri="{FF2B5EF4-FFF2-40B4-BE49-F238E27FC236}">
                <a16:creationId xmlns:a16="http://schemas.microsoft.com/office/drawing/2014/main" id="{AAFD5AB9-0B8B-4985-A19A-E2A4FC0878E7}"/>
              </a:ext>
            </a:extLst>
          </p:cNvPr>
          <p:cNvSpPr>
            <a:spLocks xmlns:a="http://schemas.openxmlformats.org/drawingml/2006/main" noGrp="1"/>
          </p:cNvSpPr>
          <p:nvPr/>
        </p:nvSpPr>
        <p:spPr>
          <a:xfrm xmlns:a="http://schemas.openxmlformats.org/drawingml/2006/main">
            <a:off x="4514850" y="27146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2E7D62"/>
                </a:solidFill>
                <a:latin typeface="Helvetica Neue"/>
                <a:ea typeface="Helvetica Neue"/>
                <a:cs typeface="Helvetica Neue"/>
              </a:defRPr>
            </a:pPr>
            <a:r>
              <a:rPr sz="1575" b="1">
                <a:solidFill>
                  <a:srgbClr val="2E7D62"/>
                </a:solidFill>
                <a:latin typeface="Helvetica Neue"/>
                <a:ea typeface="Helvetica Neue"/>
                <a:cs typeface="Helvetica Neue"/>
              </a:rPr>
              <a:t>KAMI library</a:t>
            </a:r>
          </a:p>
        </p:txBody>
      </p:sp>
      <p:sp>
        <p:nvSpPr>
          <p:cNvPr id="8" name="">
            <a:extLst xmlns:a="http://schemas.openxmlformats.org/drawingml/2006/main">
              <a:ext uri="{FF2B5EF4-FFF2-40B4-BE49-F238E27FC236}">
                <a16:creationId xmlns:a16="http://schemas.microsoft.com/office/drawing/2014/main" id="{B93002E5-0C29-472C-8223-47393DF5FEA9}"/>
              </a:ext>
            </a:extLst>
          </p:cNvPr>
          <p:cNvSpPr>
            <a:spLocks xmlns:a="http://schemas.openxmlformats.org/drawingml/2006/main" noGrp="1"/>
          </p:cNvSpPr>
          <p:nvPr/>
        </p:nvSpPr>
        <p:spPr>
          <a:xfrm xmlns:a="http://schemas.openxmlformats.org/drawingml/2006/main">
            <a:off x="4514850" y="3257550"/>
            <a:ext cx="2381250" cy="163830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Clean article</a:t>
            </a:r>
          </a:p>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Title and author</a:t>
            </a:r>
          </a:p>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Tags and highlights</a:t>
            </a:r>
          </a:p>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Reading time</a:t>
            </a:r>
          </a:p>
        </p:txBody>
      </p:sp>
      <p:sp>
        <p:nvSpPr>
          <p:cNvPr id="9" name="">
            <a:extLst xmlns:a="http://schemas.openxmlformats.org/drawingml/2006/main">
              <a:ext uri="{FF2B5EF4-FFF2-40B4-BE49-F238E27FC236}">
                <a16:creationId xmlns:a16="http://schemas.microsoft.com/office/drawing/2014/main" id="{66DD5FA2-7132-4F7A-B423-18C1CCD62E7A}"/>
              </a:ext>
            </a:extLst>
          </p:cNvPr>
          <p:cNvSpPr>
            <a:spLocks xmlns:a="http://schemas.openxmlformats.org/drawingml/2006/main" noGrp="1"/>
          </p:cNvSpPr>
          <p:nvPr/>
        </p:nvSpPr>
        <p:spPr>
          <a:xfrm xmlns:a="http://schemas.openxmlformats.org/drawingml/2006/main">
            <a:off x="8153400" y="2714625"/>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D8A33B"/>
                </a:solidFill>
                <a:latin typeface="Helvetica Neue"/>
                <a:ea typeface="Helvetica Neue"/>
                <a:cs typeface="Helvetica Neue"/>
              </a:defRPr>
            </a:pPr>
            <a:r>
              <a:rPr sz="1575" b="1">
                <a:solidFill>
                  <a:srgbClr val="D8A33B"/>
                </a:solidFill>
                <a:latin typeface="Helvetica Neue"/>
                <a:ea typeface="Helvetica Neue"/>
                <a:cs typeface="Helvetica Neue"/>
              </a:rPr>
              <a:t>Why it matters</a:t>
            </a:r>
          </a:p>
        </p:txBody>
      </p:sp>
      <p:sp>
        <p:nvSpPr>
          <p:cNvPr id="10" name="">
            <a:extLst xmlns:a="http://schemas.openxmlformats.org/drawingml/2006/main">
              <a:ext uri="{FF2B5EF4-FFF2-40B4-BE49-F238E27FC236}">
                <a16:creationId xmlns:a16="http://schemas.microsoft.com/office/drawing/2014/main" id="{135E2001-B4AF-43DA-B68B-2C8522DF3E8F}"/>
              </a:ext>
            </a:extLst>
          </p:cNvPr>
          <p:cNvSpPr>
            <a:spLocks xmlns:a="http://schemas.openxmlformats.org/drawingml/2006/main" noGrp="1"/>
          </p:cNvSpPr>
          <p:nvPr/>
        </p:nvSpPr>
        <p:spPr>
          <a:xfrm xmlns:a="http://schemas.openxmlformats.org/drawingml/2006/main">
            <a:off x="8153400" y="3257550"/>
            <a:ext cx="2571750" cy="1638300"/>
          </a:xfrm>
          <a:prstGeom xmlns:a="http://schemas.openxmlformats.org/drawingml/2006/main" prst="rect">
            <a:avLst/>
          </a:prstGeom>
          <a:solidFill xmlns:a="http://schemas.openxmlformats.org/drawingml/2006/main">
            <a:srgbClr val="FFF7E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A library people can actually revisit and trust.</a:t>
            </a:r>
          </a:p>
        </p:txBody>
      </p:sp>
    </p:spTree>
    <p:extLst>
      <p:ext uri="{BB962C8B-B14F-4D97-AF65-F5344CB8AC3E}">
        <p14:creationId xmlns:p14="http://schemas.microsoft.com/office/powerpoint/2010/main" val="7591495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681AF1-5F18-44B7-958B-48764292E361}"/>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What the user experiences</a:t>
            </a:r>
          </a:p>
        </p:txBody>
      </p:sp>
      <p:sp>
        <p:nvSpPr>
          <p:cNvPr id="2" name="">
            <a:extLst xmlns:a="http://schemas.openxmlformats.org/drawingml/2006/main">
              <a:ext uri="{FF2B5EF4-FFF2-40B4-BE49-F238E27FC236}">
                <a16:creationId xmlns:a16="http://schemas.microsoft.com/office/drawing/2014/main" id="{30B315C7-DFB8-4B97-A932-C6556FDE5DE1}"/>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4281245D-6B5C-4886-9BA7-DF0E4BE09165}"/>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079CBCD4-DC0E-4249-8232-018DFCD8FB2B}"/>
              </a:ext>
            </a:extLst>
          </p:cNvPr>
          <p:cNvSpPr>
            <a:spLocks xmlns:a="http://schemas.openxmlformats.org/drawingml/2006/main" noGrp="1"/>
          </p:cNvSpPr>
          <p:nvPr/>
        </p:nvSpPr>
        <p:spPr>
          <a:xfrm xmlns:a="http://schemas.openxmlformats.org/drawingml/2006/main">
            <a:off x="704850" y="1695450"/>
            <a:ext cx="2571750" cy="64770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3283C"/>
                </a:solidFill>
                <a:latin typeface="Helvetica Neue"/>
                <a:ea typeface="Helvetica Neue"/>
                <a:cs typeface="Helvetica Neue"/>
              </a:defRPr>
            </a:pPr>
            <a:r>
              <a:rPr sz="1725" b="1">
                <a:solidFill>
                  <a:srgbClr val="13283C"/>
                </a:solidFill>
                <a:latin typeface="Helvetica Neue"/>
                <a:ea typeface="Helvetica Neue"/>
                <a:cs typeface="Helvetica Neue"/>
              </a:rPr>
              <a:t>Paste a URL or use the bookmarklet</a:t>
            </a:r>
          </a:p>
        </p:txBody>
      </p:sp>
      <p:sp>
        <p:nvSpPr>
          <p:cNvPr id="5" name="">
            <a:extLst xmlns:a="http://schemas.openxmlformats.org/drawingml/2006/main">
              <a:ext uri="{FF2B5EF4-FFF2-40B4-BE49-F238E27FC236}">
                <a16:creationId xmlns:a16="http://schemas.microsoft.com/office/drawing/2014/main" id="{4393E8E3-04A5-4E9B-902B-9D6B34BA9F10}"/>
              </a:ext>
            </a:extLst>
          </p:cNvPr>
          <p:cNvSpPr>
            <a:spLocks xmlns:a="http://schemas.openxmlformats.org/drawingml/2006/main" noGrp="1"/>
          </p:cNvSpPr>
          <p:nvPr/>
        </p:nvSpPr>
        <p:spPr>
          <a:xfrm xmlns:a="http://schemas.openxmlformats.org/drawingml/2006/main">
            <a:off x="4248150" y="1695450"/>
            <a:ext cx="2571750" cy="64770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3283C"/>
                </a:solidFill>
                <a:latin typeface="Helvetica Neue"/>
                <a:ea typeface="Helvetica Neue"/>
                <a:cs typeface="Helvetica Neue"/>
              </a:defRPr>
            </a:pPr>
            <a:r>
              <a:rPr sz="1725" b="1">
                <a:solidFill>
                  <a:srgbClr val="13283C"/>
                </a:solidFill>
                <a:latin typeface="Helvetica Neue"/>
                <a:ea typeface="Helvetica Neue"/>
                <a:cs typeface="Helvetica Neue"/>
              </a:rPr>
              <a:t>KAMI creates a readable article</a:t>
            </a:r>
          </a:p>
        </p:txBody>
      </p:sp>
      <p:sp>
        <p:nvSpPr>
          <p:cNvPr id="6" name="">
            <a:extLst xmlns:a="http://schemas.openxmlformats.org/drawingml/2006/main">
              <a:ext uri="{FF2B5EF4-FFF2-40B4-BE49-F238E27FC236}">
                <a16:creationId xmlns:a16="http://schemas.microsoft.com/office/drawing/2014/main" id="{D3359713-443F-4E29-919D-45E23E98D3DC}"/>
              </a:ext>
            </a:extLst>
          </p:cNvPr>
          <p:cNvSpPr>
            <a:spLocks xmlns:a="http://schemas.openxmlformats.org/drawingml/2006/main" noGrp="1"/>
          </p:cNvSpPr>
          <p:nvPr/>
        </p:nvSpPr>
        <p:spPr>
          <a:xfrm xmlns:a="http://schemas.openxmlformats.org/drawingml/2006/main">
            <a:off x="7791450" y="1695450"/>
            <a:ext cx="2571750" cy="64770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3283C"/>
                </a:solidFill>
                <a:latin typeface="Helvetica Neue"/>
                <a:ea typeface="Helvetica Neue"/>
                <a:cs typeface="Helvetica Neue"/>
              </a:defRPr>
            </a:pPr>
            <a:r>
              <a:rPr sz="1725" b="1">
                <a:solidFill>
                  <a:srgbClr val="13283C"/>
                </a:solidFill>
                <a:latin typeface="Helvetica Neue"/>
                <a:ea typeface="Helvetica Neue"/>
                <a:cs typeface="Helvetica Neue"/>
              </a:rPr>
              <a:t>Save it to a personal library</a:t>
            </a:r>
          </a:p>
        </p:txBody>
      </p:sp>
      <p:sp>
        <p:nvSpPr>
          <p:cNvPr id="7" name="">
            <a:extLst xmlns:a="http://schemas.openxmlformats.org/drawingml/2006/main">
              <a:ext uri="{FF2B5EF4-FFF2-40B4-BE49-F238E27FC236}">
                <a16:creationId xmlns:a16="http://schemas.microsoft.com/office/drawing/2014/main" id="{B4C1530A-19DE-4CBA-8543-E8FE27065DA1}"/>
              </a:ext>
            </a:extLst>
          </p:cNvPr>
          <p:cNvSpPr>
            <a:spLocks xmlns:a="http://schemas.openxmlformats.org/drawingml/2006/main" noGrp="1"/>
          </p:cNvSpPr>
          <p:nvPr/>
        </p:nvSpPr>
        <p:spPr>
          <a:xfrm xmlns:a="http://schemas.openxmlformats.org/drawingml/2006/main">
            <a:off x="3276600" y="2019300"/>
            <a:ext cx="97155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8" name="">
            <a:extLst xmlns:a="http://schemas.openxmlformats.org/drawingml/2006/main">
              <a:ext uri="{FF2B5EF4-FFF2-40B4-BE49-F238E27FC236}">
                <a16:creationId xmlns:a16="http://schemas.microsoft.com/office/drawing/2014/main" id="{EE4364E3-BD82-4CEA-9D45-909B489808C8}"/>
              </a:ext>
            </a:extLst>
          </p:cNvPr>
          <p:cNvSpPr>
            <a:spLocks xmlns:a="http://schemas.openxmlformats.org/drawingml/2006/main" noGrp="1"/>
          </p:cNvSpPr>
          <p:nvPr/>
        </p:nvSpPr>
        <p:spPr>
          <a:xfrm xmlns:a="http://schemas.openxmlformats.org/drawingml/2006/main">
            <a:off x="6819900" y="2019300"/>
            <a:ext cx="97155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9" name="">
            <a:extLst xmlns:a="http://schemas.openxmlformats.org/drawingml/2006/main">
              <a:ext uri="{FF2B5EF4-FFF2-40B4-BE49-F238E27FC236}">
                <a16:creationId xmlns:a16="http://schemas.microsoft.com/office/drawing/2014/main" id="{CE032030-AB35-4296-8D07-F02E159B13FB}"/>
              </a:ext>
            </a:extLst>
          </p:cNvPr>
          <p:cNvSpPr>
            <a:spLocks xmlns:a="http://schemas.openxmlformats.org/drawingml/2006/main" noGrp="1"/>
          </p:cNvSpPr>
          <p:nvPr/>
        </p:nvSpPr>
        <p:spPr>
          <a:xfrm xmlns:a="http://schemas.openxmlformats.org/drawingml/2006/main">
            <a:off x="1466850" y="3409950"/>
            <a:ext cx="9239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0">
                <a:solidFill>
                  <a:srgbClr val="13283C"/>
                </a:solidFill>
                <a:latin typeface="Helvetica Neue"/>
                <a:ea typeface="Helvetica Neue"/>
                <a:cs typeface="Helvetica Neue"/>
              </a:defRPr>
            </a:pPr>
            <a:r>
              <a:rPr sz="2025" b="0">
                <a:solidFill>
                  <a:srgbClr val="13283C"/>
                </a:solidFill>
                <a:latin typeface="Helvetica Neue"/>
                <a:ea typeface="Helvetica Neue"/>
                <a:cs typeface="Helvetica Neue"/>
              </a:rPr>
              <a:t>The saved item includes the original URL, a canonical URL, title, author, excerpt, image, estimated reading time, tags, folders, and highlights.</a:t>
            </a:r>
          </a:p>
        </p:txBody>
      </p:sp>
      <p:sp>
        <p:nvSpPr>
          <p:cNvPr id="10" name="">
            <a:extLst xmlns:a="http://schemas.openxmlformats.org/drawingml/2006/main">
              <a:ext uri="{FF2B5EF4-FFF2-40B4-BE49-F238E27FC236}">
                <a16:creationId xmlns:a16="http://schemas.microsoft.com/office/drawing/2014/main" id="{7F413C06-41B7-4610-976B-6AD2BDEEDC60}"/>
              </a:ext>
            </a:extLst>
          </p:cNvPr>
          <p:cNvSpPr>
            <a:spLocks xmlns:a="http://schemas.openxmlformats.org/drawingml/2006/main" noGrp="1"/>
          </p:cNvSpPr>
          <p:nvPr/>
        </p:nvSpPr>
        <p:spPr>
          <a:xfrm xmlns:a="http://schemas.openxmlformats.org/drawingml/2006/main">
            <a:off x="1466850" y="4810125"/>
            <a:ext cx="923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2A668F"/>
                </a:solidFill>
                <a:latin typeface="Helvetica Neue"/>
                <a:ea typeface="Helvetica Neue"/>
                <a:cs typeface="Helvetica Neue"/>
              </a:defRPr>
            </a:pPr>
            <a:r>
              <a:rPr sz="1650" b="1">
                <a:solidFill>
                  <a:srgbClr val="2A668F"/>
                </a:solidFill>
                <a:latin typeface="Helvetica Neue"/>
                <a:ea typeface="Helvetica Neue"/>
                <a:cs typeface="Helvetica Neue"/>
              </a:rPr>
              <a:t>Product goal: the saved version should be calmer than the page where it started.</a:t>
            </a:r>
          </a:p>
        </p:txBody>
      </p:sp>
    </p:spTree>
    <p:extLst>
      <p:ext uri="{BB962C8B-B14F-4D97-AF65-F5344CB8AC3E}">
        <p14:creationId xmlns:p14="http://schemas.microsoft.com/office/powerpoint/2010/main" val="15226689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65B9E7D-C0A8-41AD-A1A6-24E7569DDE82}"/>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System architecture</a:t>
            </a:r>
          </a:p>
        </p:txBody>
      </p:sp>
      <p:sp>
        <p:nvSpPr>
          <p:cNvPr id="2" name="">
            <a:extLst xmlns:a="http://schemas.openxmlformats.org/drawingml/2006/main">
              <a:ext uri="{FF2B5EF4-FFF2-40B4-BE49-F238E27FC236}">
                <a16:creationId xmlns:a16="http://schemas.microsoft.com/office/drawing/2014/main" id="{C27F54E9-323B-4E90-88EF-AEC22A31812E}"/>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3890108B-11C9-4498-BA37-BD7660260F96}"/>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7CA367EF-451A-45D7-896E-D04A4C2587B3}"/>
              </a:ext>
            </a:extLst>
          </p:cNvPr>
          <p:cNvSpPr>
            <a:spLocks xmlns:a="http://schemas.openxmlformats.org/drawingml/2006/main" noGrp="1"/>
          </p:cNvSpPr>
          <p:nvPr/>
        </p:nvSpPr>
        <p:spPr>
          <a:xfrm xmlns:a="http://schemas.openxmlformats.org/drawingml/2006/main">
            <a:off x="714375" y="1619250"/>
            <a:ext cx="2047875" cy="51435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Browser</a:t>
            </a:r>
          </a:p>
        </p:txBody>
      </p:sp>
      <p:sp>
        <p:nvSpPr>
          <p:cNvPr id="5" name="">
            <a:extLst xmlns:a="http://schemas.openxmlformats.org/drawingml/2006/main">
              <a:ext uri="{FF2B5EF4-FFF2-40B4-BE49-F238E27FC236}">
                <a16:creationId xmlns:a16="http://schemas.microsoft.com/office/drawing/2014/main" id="{C13B275B-9F3E-4028-A57F-8A2D4AB17341}"/>
              </a:ext>
            </a:extLst>
          </p:cNvPr>
          <p:cNvSpPr>
            <a:spLocks xmlns:a="http://schemas.openxmlformats.org/drawingml/2006/main" noGrp="1"/>
          </p:cNvSpPr>
          <p:nvPr/>
        </p:nvSpPr>
        <p:spPr>
          <a:xfrm xmlns:a="http://schemas.openxmlformats.org/drawingml/2006/main">
            <a:off x="714375" y="2324100"/>
            <a:ext cx="2047875" cy="133350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React</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Zustand for library state</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React Query for shelves</a:t>
            </a:r>
          </a:p>
        </p:txBody>
      </p:sp>
      <p:sp>
        <p:nvSpPr>
          <p:cNvPr id="6" name="">
            <a:extLst xmlns:a="http://schemas.openxmlformats.org/drawingml/2006/main">
              <a:ext uri="{FF2B5EF4-FFF2-40B4-BE49-F238E27FC236}">
                <a16:creationId xmlns:a16="http://schemas.microsoft.com/office/drawing/2014/main" id="{DBA4750B-2B3C-4C71-BF6B-A6821063DFB8}"/>
              </a:ext>
            </a:extLst>
          </p:cNvPr>
          <p:cNvSpPr>
            <a:spLocks xmlns:a="http://schemas.openxmlformats.org/drawingml/2006/main" noGrp="1"/>
          </p:cNvSpPr>
          <p:nvPr/>
        </p:nvSpPr>
        <p:spPr>
          <a:xfrm xmlns:a="http://schemas.openxmlformats.org/drawingml/2006/main">
            <a:off x="3714750" y="1619250"/>
            <a:ext cx="2381250" cy="51435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Server</a:t>
            </a:r>
          </a:p>
        </p:txBody>
      </p:sp>
      <p:sp>
        <p:nvSpPr>
          <p:cNvPr id="7" name="">
            <a:extLst xmlns:a="http://schemas.openxmlformats.org/drawingml/2006/main">
              <a:ext uri="{FF2B5EF4-FFF2-40B4-BE49-F238E27FC236}">
                <a16:creationId xmlns:a16="http://schemas.microsoft.com/office/drawing/2014/main" id="{A11FBF1A-3A8B-4941-B201-3B73BF956543}"/>
              </a:ext>
            </a:extLst>
          </p:cNvPr>
          <p:cNvSpPr>
            <a:spLocks xmlns:a="http://schemas.openxmlformats.org/drawingml/2006/main" noGrp="1"/>
          </p:cNvSpPr>
          <p:nvPr/>
        </p:nvSpPr>
        <p:spPr>
          <a:xfrm xmlns:a="http://schemas.openxmlformats.org/drawingml/2006/main">
            <a:off x="3714750" y="2324100"/>
            <a:ext cx="2381250" cy="133350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TanStack Start</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Auth middleware</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Extraction service</a:t>
            </a:r>
          </a:p>
        </p:txBody>
      </p:sp>
      <p:sp>
        <p:nvSpPr>
          <p:cNvPr id="8" name="">
            <a:extLst xmlns:a="http://schemas.openxmlformats.org/drawingml/2006/main">
              <a:ext uri="{FF2B5EF4-FFF2-40B4-BE49-F238E27FC236}">
                <a16:creationId xmlns:a16="http://schemas.microsoft.com/office/drawing/2014/main" id="{FC45FAEC-ADE6-4507-8FC4-90EE6D0E82AB}"/>
              </a:ext>
            </a:extLst>
          </p:cNvPr>
          <p:cNvSpPr>
            <a:spLocks xmlns:a="http://schemas.openxmlformats.org/drawingml/2006/main" noGrp="1"/>
          </p:cNvSpPr>
          <p:nvPr/>
        </p:nvSpPr>
        <p:spPr>
          <a:xfrm xmlns:a="http://schemas.openxmlformats.org/drawingml/2006/main">
            <a:off x="7048500" y="1619250"/>
            <a:ext cx="1714500" cy="5143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Data</a:t>
            </a:r>
          </a:p>
        </p:txBody>
      </p:sp>
      <p:sp>
        <p:nvSpPr>
          <p:cNvPr id="9" name="">
            <a:extLst xmlns:a="http://schemas.openxmlformats.org/drawingml/2006/main">
              <a:ext uri="{FF2B5EF4-FFF2-40B4-BE49-F238E27FC236}">
                <a16:creationId xmlns:a16="http://schemas.microsoft.com/office/drawing/2014/main" id="{BDC25F07-3890-4B0D-A9E4-B53850BA7FFC}"/>
              </a:ext>
            </a:extLst>
          </p:cNvPr>
          <p:cNvSpPr>
            <a:spLocks xmlns:a="http://schemas.openxmlformats.org/drawingml/2006/main" noGrp="1"/>
          </p:cNvSpPr>
          <p:nvPr/>
        </p:nvSpPr>
        <p:spPr>
          <a:xfrm xmlns:a="http://schemas.openxmlformats.org/drawingml/2006/main">
            <a:off x="7048500" y="2324100"/>
            <a:ext cx="1714500" cy="1333500"/>
          </a:xfrm>
          <a:prstGeom xmlns:a="http://schemas.openxmlformats.org/drawingml/2006/main" prst="rect">
            <a:avLst/>
          </a:prstGeom>
          <a:solidFill xmlns:a="http://schemas.openxmlformats.org/drawingml/2006/main">
            <a:srgbClr val="EDF7F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Postgres or PGLite</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Redis cache</a:t>
            </a:r>
          </a:p>
        </p:txBody>
      </p:sp>
      <p:sp>
        <p:nvSpPr>
          <p:cNvPr id="10" name="">
            <a:extLst xmlns:a="http://schemas.openxmlformats.org/drawingml/2006/main">
              <a:ext uri="{FF2B5EF4-FFF2-40B4-BE49-F238E27FC236}">
                <a16:creationId xmlns:a16="http://schemas.microsoft.com/office/drawing/2014/main" id="{1CA2165C-1EE9-4F53-B128-CBB13C7EF0CA}"/>
              </a:ext>
            </a:extLst>
          </p:cNvPr>
          <p:cNvSpPr>
            <a:spLocks xmlns:a="http://schemas.openxmlformats.org/drawingml/2006/main" noGrp="1"/>
          </p:cNvSpPr>
          <p:nvPr/>
        </p:nvSpPr>
        <p:spPr>
          <a:xfrm xmlns:a="http://schemas.openxmlformats.org/drawingml/2006/main">
            <a:off x="9715500" y="1619250"/>
            <a:ext cx="1809750" cy="514350"/>
          </a:xfrm>
          <a:prstGeom xmlns:a="http://schemas.openxmlformats.org/drawingml/2006/main" prst="rect">
            <a:avLst/>
          </a:prstGeom>
          <a:solidFill xmlns:a="http://schemas.openxmlformats.org/drawingml/2006/main">
            <a:srgbClr val="D8A33B"/>
          </a:solidFill>
          <a:ln xmlns:a="http://schemas.openxmlformats.org/drawingml/2006/main" w="0">
            <a:noFill/>
          </a:ln>
        </p:spPr>
        <p:txBody>
          <a:bodyPr xmlns:a="http://schemas.openxmlformats.org/drawingml/2006/main" anchor="ctr">
            <a:normAutofit fontScale="97993"/>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Outside services</a:t>
            </a:r>
          </a:p>
        </p:txBody>
      </p:sp>
      <p:sp>
        <p:nvSpPr>
          <p:cNvPr id="11" name="">
            <a:extLst xmlns:a="http://schemas.openxmlformats.org/drawingml/2006/main">
              <a:ext uri="{FF2B5EF4-FFF2-40B4-BE49-F238E27FC236}">
                <a16:creationId xmlns:a16="http://schemas.microsoft.com/office/drawing/2014/main" id="{FD180F03-7B4D-4CC9-85F2-B969879515FA}"/>
              </a:ext>
            </a:extLst>
          </p:cNvPr>
          <p:cNvSpPr>
            <a:spLocks xmlns:a="http://schemas.openxmlformats.org/drawingml/2006/main" noGrp="1"/>
          </p:cNvSpPr>
          <p:nvPr/>
        </p:nvSpPr>
        <p:spPr>
          <a:xfrm xmlns:a="http://schemas.openxmlformats.org/drawingml/2006/main">
            <a:off x="9715500" y="2324100"/>
            <a:ext cx="1809750" cy="1333500"/>
          </a:xfrm>
          <a:prstGeom xmlns:a="http://schemas.openxmlformats.org/drawingml/2006/main" prst="rect">
            <a:avLst/>
          </a:prstGeom>
          <a:solidFill xmlns:a="http://schemas.openxmlformats.org/drawingml/2006/main">
            <a:srgbClr val="FFF7E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Web pages</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X helpers</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Jina Reader</a:t>
            </a:r>
          </a:p>
        </p:txBody>
      </p:sp>
      <p:sp>
        <p:nvSpPr>
          <p:cNvPr id="12" name="">
            <a:extLst xmlns:a="http://schemas.openxmlformats.org/drawingml/2006/main">
              <a:ext uri="{FF2B5EF4-FFF2-40B4-BE49-F238E27FC236}">
                <a16:creationId xmlns:a16="http://schemas.microsoft.com/office/drawing/2014/main" id="{A246C6A6-865E-4B46-9220-5BCF1D1D0456}"/>
              </a:ext>
            </a:extLst>
          </p:cNvPr>
          <p:cNvSpPr>
            <a:spLocks xmlns:a="http://schemas.openxmlformats.org/drawingml/2006/main" noGrp="1"/>
          </p:cNvSpPr>
          <p:nvPr/>
        </p:nvSpPr>
        <p:spPr>
          <a:xfrm xmlns:a="http://schemas.openxmlformats.org/drawingml/2006/main">
            <a:off x="2762250" y="2647950"/>
            <a:ext cx="95250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3" name="">
            <a:extLst xmlns:a="http://schemas.openxmlformats.org/drawingml/2006/main">
              <a:ext uri="{FF2B5EF4-FFF2-40B4-BE49-F238E27FC236}">
                <a16:creationId xmlns:a16="http://schemas.microsoft.com/office/drawing/2014/main" id="{031A2C6F-E930-464F-80C9-0E3967F7EC8F}"/>
              </a:ext>
            </a:extLst>
          </p:cNvPr>
          <p:cNvSpPr>
            <a:spLocks xmlns:a="http://schemas.openxmlformats.org/drawingml/2006/main" noGrp="1"/>
          </p:cNvSpPr>
          <p:nvPr/>
        </p:nvSpPr>
        <p:spPr>
          <a:xfrm xmlns:a="http://schemas.openxmlformats.org/drawingml/2006/main">
            <a:off x="6096000" y="2647950"/>
            <a:ext cx="95250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4" name="">
            <a:extLst xmlns:a="http://schemas.openxmlformats.org/drawingml/2006/main">
              <a:ext uri="{FF2B5EF4-FFF2-40B4-BE49-F238E27FC236}">
                <a16:creationId xmlns:a16="http://schemas.microsoft.com/office/drawing/2014/main" id="{58210DBE-0B7B-4AB2-A08D-D2C78C0B125C}"/>
              </a:ext>
            </a:extLst>
          </p:cNvPr>
          <p:cNvSpPr>
            <a:spLocks xmlns:a="http://schemas.openxmlformats.org/drawingml/2006/main" noGrp="1"/>
          </p:cNvSpPr>
          <p:nvPr/>
        </p:nvSpPr>
        <p:spPr>
          <a:xfrm xmlns:a="http://schemas.openxmlformats.org/drawingml/2006/main">
            <a:off x="8763000" y="2647950"/>
            <a:ext cx="95250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5" name="">
            <a:extLst xmlns:a="http://schemas.openxmlformats.org/drawingml/2006/main">
              <a:ext uri="{FF2B5EF4-FFF2-40B4-BE49-F238E27FC236}">
                <a16:creationId xmlns:a16="http://schemas.microsoft.com/office/drawing/2014/main" id="{0DAC7796-E672-4CC3-B9D5-8EC710AF0E0D}"/>
              </a:ext>
            </a:extLst>
          </p:cNvPr>
          <p:cNvSpPr>
            <a:spLocks xmlns:a="http://schemas.openxmlformats.org/drawingml/2006/main" noGrp="1"/>
          </p:cNvSpPr>
          <p:nvPr/>
        </p:nvSpPr>
        <p:spPr>
          <a:xfrm xmlns:a="http://schemas.openxmlformats.org/drawingml/2006/main">
            <a:off x="990600" y="45720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674"/>
          </a:bodyPr>
          <a:lstStyle xmlns:a="http://schemas.openxmlformats.org/drawingml/2006/main"/>
          <a:p xmlns:a="http://schemas.openxmlformats.org/drawingml/2006/main">
            <a:pPr algn="ctr">
              <a:defRPr sz="1875" b="1">
                <a:solidFill>
                  <a:srgbClr val="13283C"/>
                </a:solidFill>
                <a:latin typeface="Helvetica Neue"/>
                <a:ea typeface="Helvetica Neue"/>
                <a:cs typeface="Helvetica Neue"/>
              </a:defRPr>
            </a:pPr>
            <a:r>
              <a:rPr sz="1875" b="1">
                <a:solidFill>
                  <a:srgbClr val="13283C"/>
                </a:solidFill>
                <a:latin typeface="Helvetica Neue"/>
                <a:ea typeface="Helvetica Neue"/>
                <a:cs typeface="Helvetica Neue"/>
              </a:rPr>
              <a:t>Key boundary: article HTML is created on the server and delivered as a cleaned reading copy.</a:t>
            </a:r>
          </a:p>
        </p:txBody>
      </p:sp>
    </p:spTree>
    <p:extLst>
      <p:ext uri="{BB962C8B-B14F-4D97-AF65-F5344CB8AC3E}">
        <p14:creationId xmlns:p14="http://schemas.microsoft.com/office/powerpoint/2010/main" val="10264216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10CC933-64AA-4083-BE0E-4FC5606A1887}"/>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Blog extraction pipeline</a:t>
            </a:r>
          </a:p>
        </p:txBody>
      </p:sp>
      <p:sp>
        <p:nvSpPr>
          <p:cNvPr id="2" name="">
            <a:extLst xmlns:a="http://schemas.openxmlformats.org/drawingml/2006/main">
              <a:ext uri="{FF2B5EF4-FFF2-40B4-BE49-F238E27FC236}">
                <a16:creationId xmlns:a16="http://schemas.microsoft.com/office/drawing/2014/main" id="{05A1F0C0-486E-4DAE-825E-49B0DD3683DD}"/>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E2860287-E393-4402-8995-C55263F7E47D}"/>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2F23C3C8-BA8E-4FC2-A4D7-799E7A913F15}"/>
              </a:ext>
            </a:extLst>
          </p:cNvPr>
          <p:cNvSpPr>
            <a:spLocks xmlns:a="http://schemas.openxmlformats.org/drawingml/2006/main" noGrp="1"/>
          </p:cNvSpPr>
          <p:nvPr/>
        </p:nvSpPr>
        <p:spPr>
          <a:xfrm xmlns:a="http://schemas.openxmlformats.org/drawingml/2006/main">
            <a:off x="762000" y="1809750"/>
            <a:ext cx="514350" cy="51435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A4152521-205C-4A4C-81DB-D5D6ECD2D487}"/>
              </a:ext>
            </a:extLst>
          </p:cNvPr>
          <p:cNvSpPr>
            <a:spLocks xmlns:a="http://schemas.openxmlformats.org/drawingml/2006/main" noGrp="1"/>
          </p:cNvSpPr>
          <p:nvPr/>
        </p:nvSpPr>
        <p:spPr>
          <a:xfrm xmlns:a="http://schemas.openxmlformats.org/drawingml/2006/main">
            <a:off x="76200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Validate</a:t>
            </a:r>
          </a:p>
        </p:txBody>
      </p:sp>
      <p:sp>
        <p:nvSpPr>
          <p:cNvPr id="6" name="">
            <a:extLst xmlns:a="http://schemas.openxmlformats.org/drawingml/2006/main">
              <a:ext uri="{FF2B5EF4-FFF2-40B4-BE49-F238E27FC236}">
                <a16:creationId xmlns:a16="http://schemas.microsoft.com/office/drawing/2014/main" id="{ADFB69D7-8B5F-4BD2-899B-3BDE0592EB86}"/>
              </a:ext>
            </a:extLst>
          </p:cNvPr>
          <p:cNvSpPr>
            <a:spLocks xmlns:a="http://schemas.openxmlformats.org/drawingml/2006/main" noGrp="1"/>
          </p:cNvSpPr>
          <p:nvPr/>
        </p:nvSpPr>
        <p:spPr>
          <a:xfrm xmlns:a="http://schemas.openxmlformats.org/drawingml/2006/main">
            <a:off x="76200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Accept public HTTP addresses. Re-check each redirect.</a:t>
            </a:r>
          </a:p>
        </p:txBody>
      </p:sp>
      <p:sp>
        <p:nvSpPr>
          <p:cNvPr id="7" name="">
            <a:extLst xmlns:a="http://schemas.openxmlformats.org/drawingml/2006/main">
              <a:ext uri="{FF2B5EF4-FFF2-40B4-BE49-F238E27FC236}">
                <a16:creationId xmlns:a16="http://schemas.microsoft.com/office/drawing/2014/main" id="{EB881783-7F5D-431D-9EDB-9F083DA5AC5A}"/>
              </a:ext>
            </a:extLst>
          </p:cNvPr>
          <p:cNvSpPr>
            <a:spLocks xmlns:a="http://schemas.openxmlformats.org/drawingml/2006/main" noGrp="1"/>
          </p:cNvSpPr>
          <p:nvPr/>
        </p:nvSpPr>
        <p:spPr>
          <a:xfrm xmlns:a="http://schemas.openxmlformats.org/drawingml/2006/main">
            <a:off x="3238500" y="1809750"/>
            <a:ext cx="514350" cy="5143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A4DF5297-4E49-4A94-81FE-88118644AF13}"/>
              </a:ext>
            </a:extLst>
          </p:cNvPr>
          <p:cNvSpPr>
            <a:spLocks xmlns:a="http://schemas.openxmlformats.org/drawingml/2006/main" noGrp="1"/>
          </p:cNvSpPr>
          <p:nvPr/>
        </p:nvSpPr>
        <p:spPr>
          <a:xfrm xmlns:a="http://schemas.openxmlformats.org/drawingml/2006/main">
            <a:off x="323850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Fetch</a:t>
            </a:r>
          </a:p>
        </p:txBody>
      </p:sp>
      <p:sp>
        <p:nvSpPr>
          <p:cNvPr id="9" name="">
            <a:extLst xmlns:a="http://schemas.openxmlformats.org/drawingml/2006/main">
              <a:ext uri="{FF2B5EF4-FFF2-40B4-BE49-F238E27FC236}">
                <a16:creationId xmlns:a16="http://schemas.microsoft.com/office/drawing/2014/main" id="{DBAECA33-2421-43CC-8A88-C838C5442320}"/>
              </a:ext>
            </a:extLst>
          </p:cNvPr>
          <p:cNvSpPr>
            <a:spLocks xmlns:a="http://schemas.openxmlformats.org/drawingml/2006/main" noGrp="1"/>
          </p:cNvSpPr>
          <p:nvPr/>
        </p:nvSpPr>
        <p:spPr>
          <a:xfrm xmlns:a="http://schemas.openxmlformats.org/drawingml/2006/main">
            <a:off x="323850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Limit time and page size before parsing.</a:t>
            </a:r>
          </a:p>
        </p:txBody>
      </p:sp>
      <p:sp>
        <p:nvSpPr>
          <p:cNvPr id="10" name="">
            <a:extLst xmlns:a="http://schemas.openxmlformats.org/drawingml/2006/main">
              <a:ext uri="{FF2B5EF4-FFF2-40B4-BE49-F238E27FC236}">
                <a16:creationId xmlns:a16="http://schemas.microsoft.com/office/drawing/2014/main" id="{4129CA38-6941-454B-960F-99B92BD3FEE2}"/>
              </a:ext>
            </a:extLst>
          </p:cNvPr>
          <p:cNvSpPr>
            <a:spLocks xmlns:a="http://schemas.openxmlformats.org/drawingml/2006/main" noGrp="1"/>
          </p:cNvSpPr>
          <p:nvPr/>
        </p:nvSpPr>
        <p:spPr>
          <a:xfrm xmlns:a="http://schemas.openxmlformats.org/drawingml/2006/main">
            <a:off x="5715000" y="1809750"/>
            <a:ext cx="514350" cy="514350"/>
          </a:xfrm>
          <a:prstGeom xmlns:a="http://schemas.openxmlformats.org/drawingml/2006/main" prst="rect">
            <a:avLst/>
          </a:prstGeom>
          <a:solidFill xmlns:a="http://schemas.openxmlformats.org/drawingml/2006/main">
            <a:srgbClr val="D8A33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AB4BFAF9-FA67-41E3-B033-1059FBE16042}"/>
              </a:ext>
            </a:extLst>
          </p:cNvPr>
          <p:cNvSpPr>
            <a:spLocks xmlns:a="http://schemas.openxmlformats.org/drawingml/2006/main" noGrp="1"/>
          </p:cNvSpPr>
          <p:nvPr/>
        </p:nvSpPr>
        <p:spPr>
          <a:xfrm xmlns:a="http://schemas.openxmlformats.org/drawingml/2006/main">
            <a:off x="571500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Extract</a:t>
            </a:r>
          </a:p>
        </p:txBody>
      </p:sp>
      <p:sp>
        <p:nvSpPr>
          <p:cNvPr id="12" name="">
            <a:extLst xmlns:a="http://schemas.openxmlformats.org/drawingml/2006/main">
              <a:ext uri="{FF2B5EF4-FFF2-40B4-BE49-F238E27FC236}">
                <a16:creationId xmlns:a16="http://schemas.microsoft.com/office/drawing/2014/main" id="{E4B3BB90-8507-41FF-86F8-866968505832}"/>
              </a:ext>
            </a:extLst>
          </p:cNvPr>
          <p:cNvSpPr>
            <a:spLocks xmlns:a="http://schemas.openxmlformats.org/drawingml/2006/main" noGrp="1"/>
          </p:cNvSpPr>
          <p:nvPr/>
        </p:nvSpPr>
        <p:spPr>
          <a:xfrm xmlns:a="http://schemas.openxmlformats.org/drawingml/2006/main">
            <a:off x="571500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Mozilla Readability finds the main article.</a:t>
            </a:r>
          </a:p>
        </p:txBody>
      </p:sp>
      <p:sp>
        <p:nvSpPr>
          <p:cNvPr id="13" name="">
            <a:extLst xmlns:a="http://schemas.openxmlformats.org/drawingml/2006/main">
              <a:ext uri="{FF2B5EF4-FFF2-40B4-BE49-F238E27FC236}">
                <a16:creationId xmlns:a16="http://schemas.microsoft.com/office/drawing/2014/main" id="{1751A369-27C7-4055-BF60-B135AEEB75D1}"/>
              </a:ext>
            </a:extLst>
          </p:cNvPr>
          <p:cNvSpPr>
            <a:spLocks xmlns:a="http://schemas.openxmlformats.org/drawingml/2006/main" noGrp="1"/>
          </p:cNvSpPr>
          <p:nvPr/>
        </p:nvSpPr>
        <p:spPr>
          <a:xfrm xmlns:a="http://schemas.openxmlformats.org/drawingml/2006/main">
            <a:off x="8191500" y="1809750"/>
            <a:ext cx="514350" cy="514350"/>
          </a:xfrm>
          <a:prstGeom xmlns:a="http://schemas.openxmlformats.org/drawingml/2006/main" prst="rect">
            <a:avLst/>
          </a:prstGeom>
          <a:solidFill xmlns:a="http://schemas.openxmlformats.org/drawingml/2006/main">
            <a:srgbClr val="A34B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93D5F384-B4BF-402C-9B29-3DFEFF7A32C9}"/>
              </a:ext>
            </a:extLst>
          </p:cNvPr>
          <p:cNvSpPr>
            <a:spLocks xmlns:a="http://schemas.openxmlformats.org/drawingml/2006/main" noGrp="1"/>
          </p:cNvSpPr>
          <p:nvPr/>
        </p:nvSpPr>
        <p:spPr>
          <a:xfrm xmlns:a="http://schemas.openxmlformats.org/drawingml/2006/main">
            <a:off x="819150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Clean</a:t>
            </a:r>
          </a:p>
        </p:txBody>
      </p:sp>
      <p:sp>
        <p:nvSpPr>
          <p:cNvPr id="15" name="">
            <a:extLst xmlns:a="http://schemas.openxmlformats.org/drawingml/2006/main">
              <a:ext uri="{FF2B5EF4-FFF2-40B4-BE49-F238E27FC236}">
                <a16:creationId xmlns:a16="http://schemas.microsoft.com/office/drawing/2014/main" id="{369E6534-069F-44D8-9365-343C7F9D9D16}"/>
              </a:ext>
            </a:extLst>
          </p:cNvPr>
          <p:cNvSpPr>
            <a:spLocks xmlns:a="http://schemas.openxmlformats.org/drawingml/2006/main" noGrp="1"/>
          </p:cNvSpPr>
          <p:nvPr/>
        </p:nvSpPr>
        <p:spPr>
          <a:xfrm xmlns:a="http://schemas.openxmlformats.org/drawingml/2006/main">
            <a:off x="819150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Allow useful formatting. Remove active page elements.</a:t>
            </a:r>
          </a:p>
        </p:txBody>
      </p:sp>
      <p:sp>
        <p:nvSpPr>
          <p:cNvPr id="16" name="">
            <a:extLst xmlns:a="http://schemas.openxmlformats.org/drawingml/2006/main">
              <a:ext uri="{FF2B5EF4-FFF2-40B4-BE49-F238E27FC236}">
                <a16:creationId xmlns:a16="http://schemas.microsoft.com/office/drawing/2014/main" id="{77B5875D-8EFA-4C47-BFAE-9AFF5576005C}"/>
              </a:ext>
            </a:extLst>
          </p:cNvPr>
          <p:cNvSpPr>
            <a:spLocks xmlns:a="http://schemas.openxmlformats.org/drawingml/2006/main" noGrp="1"/>
          </p:cNvSpPr>
          <p:nvPr/>
        </p:nvSpPr>
        <p:spPr>
          <a:xfrm xmlns:a="http://schemas.openxmlformats.org/drawingml/2006/main">
            <a:off x="3028950" y="2066925"/>
            <a:ext cx="20955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17" name="">
            <a:extLst xmlns:a="http://schemas.openxmlformats.org/drawingml/2006/main">
              <a:ext uri="{FF2B5EF4-FFF2-40B4-BE49-F238E27FC236}">
                <a16:creationId xmlns:a16="http://schemas.microsoft.com/office/drawing/2014/main" id="{5ABC7856-6B46-4AEF-8531-49F53EC67F4B}"/>
              </a:ext>
            </a:extLst>
          </p:cNvPr>
          <p:cNvSpPr>
            <a:spLocks xmlns:a="http://schemas.openxmlformats.org/drawingml/2006/main" noGrp="1"/>
          </p:cNvSpPr>
          <p:nvPr/>
        </p:nvSpPr>
        <p:spPr>
          <a:xfrm xmlns:a="http://schemas.openxmlformats.org/drawingml/2006/main">
            <a:off x="5505450" y="2066925"/>
            <a:ext cx="20955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18" name="">
            <a:extLst xmlns:a="http://schemas.openxmlformats.org/drawingml/2006/main">
              <a:ext uri="{FF2B5EF4-FFF2-40B4-BE49-F238E27FC236}">
                <a16:creationId xmlns:a16="http://schemas.microsoft.com/office/drawing/2014/main" id="{17DFFDAA-18EB-4BF9-A1C1-54040E9E3354}"/>
              </a:ext>
            </a:extLst>
          </p:cNvPr>
          <p:cNvSpPr>
            <a:spLocks xmlns:a="http://schemas.openxmlformats.org/drawingml/2006/main" noGrp="1"/>
          </p:cNvSpPr>
          <p:nvPr/>
        </p:nvSpPr>
        <p:spPr>
          <a:xfrm xmlns:a="http://schemas.openxmlformats.org/drawingml/2006/main">
            <a:off x="7981950" y="2066925"/>
            <a:ext cx="20955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19" name="">
            <a:extLst xmlns:a="http://schemas.openxmlformats.org/drawingml/2006/main">
              <a:ext uri="{FF2B5EF4-FFF2-40B4-BE49-F238E27FC236}">
                <a16:creationId xmlns:a16="http://schemas.microsoft.com/office/drawing/2014/main" id="{32C2C4AA-2D9E-443D-847D-8A5B9ED74452}"/>
              </a:ext>
            </a:extLst>
          </p:cNvPr>
          <p:cNvSpPr>
            <a:spLocks xmlns:a="http://schemas.openxmlformats.org/drawingml/2006/main" noGrp="1"/>
          </p:cNvSpPr>
          <p:nvPr/>
        </p:nvSpPr>
        <p:spPr>
          <a:xfrm xmlns:a="http://schemas.openxmlformats.org/drawingml/2006/main">
            <a:off x="1123950" y="4953000"/>
            <a:ext cx="9944100" cy="68580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a:solidFill>
                  <a:srgbClr val="13283C"/>
                </a:solidFill>
                <a:latin typeface="Helvetica Neue"/>
                <a:ea typeface="Helvetica Neue"/>
                <a:cs typeface="Helvetica Neue"/>
              </a:defRPr>
            </a:pPr>
            <a:r>
              <a:rPr sz="1725" b="0">
                <a:solidFill>
                  <a:srgbClr val="13283C"/>
                </a:solidFill>
                <a:latin typeface="Helvetica Neue"/>
                <a:ea typeface="Helvetica Neue"/>
                <a:cs typeface="Helvetica Neue"/>
              </a:rPr>
              <a:t>Fallback: Jina Reader helps when a page blocks or defeats the normal extractor. If capture still fails, the product offers manual paste, a bookmarklet, or a saved link.</a:t>
            </a:r>
          </a:p>
        </p:txBody>
      </p:sp>
    </p:spTree>
    <p:extLst>
      <p:ext uri="{BB962C8B-B14F-4D97-AF65-F5344CB8AC3E}">
        <p14:creationId xmlns:p14="http://schemas.microsoft.com/office/powerpoint/2010/main" val="8735082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4DDEEF2-6C25-4C30-9EB6-2CD065D0E9D5}"/>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X and Twitter links follow a separate path</a:t>
            </a:r>
          </a:p>
        </p:txBody>
      </p:sp>
      <p:sp>
        <p:nvSpPr>
          <p:cNvPr id="2" name="">
            <a:extLst xmlns:a="http://schemas.openxmlformats.org/drawingml/2006/main">
              <a:ext uri="{FF2B5EF4-FFF2-40B4-BE49-F238E27FC236}">
                <a16:creationId xmlns:a16="http://schemas.microsoft.com/office/drawing/2014/main" id="{BA025238-B8A0-4FA7-ABF1-DC282BB83C2C}"/>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1F366771-E170-4769-94BA-74BE5DEB534E}"/>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7DF3911B-186D-4042-8595-5FB4F12C02B3}"/>
              </a:ext>
            </a:extLst>
          </p:cNvPr>
          <p:cNvSpPr>
            <a:spLocks xmlns:a="http://schemas.openxmlformats.org/drawingml/2006/main" noGrp="1"/>
          </p:cNvSpPr>
          <p:nvPr/>
        </p:nvSpPr>
        <p:spPr>
          <a:xfrm xmlns:a="http://schemas.openxmlformats.org/drawingml/2006/main">
            <a:off x="800100" y="1638300"/>
            <a:ext cx="2667000" cy="57150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9371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Recognize the link type</a:t>
            </a:r>
          </a:p>
        </p:txBody>
      </p:sp>
      <p:sp>
        <p:nvSpPr>
          <p:cNvPr id="5" name="">
            <a:extLst xmlns:a="http://schemas.openxmlformats.org/drawingml/2006/main">
              <a:ext uri="{FF2B5EF4-FFF2-40B4-BE49-F238E27FC236}">
                <a16:creationId xmlns:a16="http://schemas.microsoft.com/office/drawing/2014/main" id="{23D37CCC-0195-4797-94D7-A0B8D0E018B4}"/>
              </a:ext>
            </a:extLst>
          </p:cNvPr>
          <p:cNvSpPr>
            <a:spLocks xmlns:a="http://schemas.openxmlformats.org/drawingml/2006/main" noGrp="1"/>
          </p:cNvSpPr>
          <p:nvPr/>
        </p:nvSpPr>
        <p:spPr>
          <a:xfrm xmlns:a="http://schemas.openxmlformats.org/drawingml/2006/main">
            <a:off x="800100" y="2400300"/>
            <a:ext cx="2667000" cy="66675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a:solidFill>
                  <a:srgbClr val="13283C"/>
                </a:solidFill>
                <a:latin typeface="Helvetica Neue"/>
                <a:ea typeface="Helvetica Neue"/>
                <a:cs typeface="Helvetica Neue"/>
              </a:defRPr>
            </a:pPr>
            <a:r>
              <a:rPr sz="1725" b="0">
                <a:solidFill>
                  <a:srgbClr val="13283C"/>
                </a:solidFill>
                <a:latin typeface="Helvetica Neue"/>
                <a:ea typeface="Helvetica Neue"/>
                <a:cs typeface="Helvetica Neue"/>
              </a:rPr>
              <a:t>Post or X Article</a:t>
            </a:r>
          </a:p>
        </p:txBody>
      </p:sp>
      <p:sp>
        <p:nvSpPr>
          <p:cNvPr id="6" name="">
            <a:extLst xmlns:a="http://schemas.openxmlformats.org/drawingml/2006/main">
              <a:ext uri="{FF2B5EF4-FFF2-40B4-BE49-F238E27FC236}">
                <a16:creationId xmlns:a16="http://schemas.microsoft.com/office/drawing/2014/main" id="{28FE1C68-8D46-4DE6-AA6B-9840FE8F53CD}"/>
              </a:ext>
            </a:extLst>
          </p:cNvPr>
          <p:cNvSpPr>
            <a:spLocks xmlns:a="http://schemas.openxmlformats.org/drawingml/2006/main" noGrp="1"/>
          </p:cNvSpPr>
          <p:nvPr/>
        </p:nvSpPr>
        <p:spPr>
          <a:xfrm xmlns:a="http://schemas.openxmlformats.org/drawingml/2006/main">
            <a:off x="4762500" y="1638300"/>
            <a:ext cx="2667000" cy="57150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89914"/>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Read structured content</a:t>
            </a:r>
          </a:p>
        </p:txBody>
      </p:sp>
      <p:sp>
        <p:nvSpPr>
          <p:cNvPr id="7" name="">
            <a:extLst xmlns:a="http://schemas.openxmlformats.org/drawingml/2006/main">
              <a:ext uri="{FF2B5EF4-FFF2-40B4-BE49-F238E27FC236}">
                <a16:creationId xmlns:a16="http://schemas.microsoft.com/office/drawing/2014/main" id="{174F60B2-EFB6-46BF-8234-3ADCF13AADB2}"/>
              </a:ext>
            </a:extLst>
          </p:cNvPr>
          <p:cNvSpPr>
            <a:spLocks xmlns:a="http://schemas.openxmlformats.org/drawingml/2006/main" noGrp="1"/>
          </p:cNvSpPr>
          <p:nvPr/>
        </p:nvSpPr>
        <p:spPr>
          <a:xfrm xmlns:a="http://schemas.openxmlformats.org/drawingml/2006/main">
            <a:off x="4762500" y="2400300"/>
            <a:ext cx="2667000" cy="66675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99422"/>
          </a:bodyPr>
          <a:lstStyle xmlns:a="http://schemas.openxmlformats.org/drawingml/2006/main"/>
          <a:p xmlns:a="http://schemas.openxmlformats.org/drawingml/2006/main">
            <a:pPr algn="ctr">
              <a:defRPr sz="1500" b="0">
                <a:solidFill>
                  <a:srgbClr val="13283C"/>
                </a:solidFill>
                <a:latin typeface="Helvetica Neue"/>
                <a:ea typeface="Helvetica Neue"/>
                <a:cs typeface="Helvetica Neue"/>
              </a:defRPr>
            </a:pPr>
            <a:r>
              <a:rPr sz="1500" b="0">
                <a:solidFill>
                  <a:srgbClr val="13283C"/>
                </a:solidFill>
                <a:latin typeface="Helvetica Neue"/>
                <a:ea typeface="Helvetica Neue"/>
                <a:cs typeface="Helvetica Neue"/>
              </a:rPr>
              <a:t>Text, author, date, photos, quoted post, or article blocks</a:t>
            </a:r>
          </a:p>
        </p:txBody>
      </p:sp>
      <p:sp>
        <p:nvSpPr>
          <p:cNvPr id="8" name="">
            <a:extLst xmlns:a="http://schemas.openxmlformats.org/drawingml/2006/main">
              <a:ext uri="{FF2B5EF4-FFF2-40B4-BE49-F238E27FC236}">
                <a16:creationId xmlns:a16="http://schemas.microsoft.com/office/drawing/2014/main" id="{678CBF2F-D900-4426-B448-59B769B406F9}"/>
              </a:ext>
            </a:extLst>
          </p:cNvPr>
          <p:cNvSpPr>
            <a:spLocks xmlns:a="http://schemas.openxmlformats.org/drawingml/2006/main" noGrp="1"/>
          </p:cNvSpPr>
          <p:nvPr/>
        </p:nvSpPr>
        <p:spPr>
          <a:xfrm xmlns:a="http://schemas.openxmlformats.org/drawingml/2006/main">
            <a:off x="8724900" y="1638300"/>
            <a:ext cx="2667000" cy="57150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Normalize and save</a:t>
            </a:r>
          </a:p>
        </p:txBody>
      </p:sp>
      <p:sp>
        <p:nvSpPr>
          <p:cNvPr id="9" name="">
            <a:extLst xmlns:a="http://schemas.openxmlformats.org/drawingml/2006/main">
              <a:ext uri="{FF2B5EF4-FFF2-40B4-BE49-F238E27FC236}">
                <a16:creationId xmlns:a16="http://schemas.microsoft.com/office/drawing/2014/main" id="{7F348F7D-3DF0-420A-A4D5-7AA26A289009}"/>
              </a:ext>
            </a:extLst>
          </p:cNvPr>
          <p:cNvSpPr>
            <a:spLocks xmlns:a="http://schemas.openxmlformats.org/drawingml/2006/main" noGrp="1"/>
          </p:cNvSpPr>
          <p:nvPr/>
        </p:nvSpPr>
        <p:spPr>
          <a:xfrm xmlns:a="http://schemas.openxmlformats.org/drawingml/2006/main">
            <a:off x="8724900" y="2400300"/>
            <a:ext cx="2667000" cy="666750"/>
          </a:xfrm>
          <a:prstGeom xmlns:a="http://schemas.openxmlformats.org/drawingml/2006/main" prst="rect">
            <a:avLst/>
          </a:prstGeom>
          <a:solidFill xmlns:a="http://schemas.openxmlformats.org/drawingml/2006/main">
            <a:srgbClr val="EDF7F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Same saved-article shape as a blog post</a:t>
            </a:r>
          </a:p>
        </p:txBody>
      </p:sp>
      <p:sp>
        <p:nvSpPr>
          <p:cNvPr id="10" name="">
            <a:extLst xmlns:a="http://schemas.openxmlformats.org/drawingml/2006/main">
              <a:ext uri="{FF2B5EF4-FFF2-40B4-BE49-F238E27FC236}">
                <a16:creationId xmlns:a16="http://schemas.microsoft.com/office/drawing/2014/main" id="{BF77CDF2-7690-49CA-8989-BA34F2A22525}"/>
              </a:ext>
            </a:extLst>
          </p:cNvPr>
          <p:cNvSpPr>
            <a:spLocks xmlns:a="http://schemas.openxmlformats.org/drawingml/2006/main" noGrp="1"/>
          </p:cNvSpPr>
          <p:nvPr/>
        </p:nvSpPr>
        <p:spPr>
          <a:xfrm xmlns:a="http://schemas.openxmlformats.org/drawingml/2006/main">
            <a:off x="3467100" y="1924050"/>
            <a:ext cx="129540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1" name="">
            <a:extLst xmlns:a="http://schemas.openxmlformats.org/drawingml/2006/main">
              <a:ext uri="{FF2B5EF4-FFF2-40B4-BE49-F238E27FC236}">
                <a16:creationId xmlns:a16="http://schemas.microsoft.com/office/drawing/2014/main" id="{05338222-16C7-401F-B423-6782C6A2F1D6}"/>
              </a:ext>
            </a:extLst>
          </p:cNvPr>
          <p:cNvSpPr>
            <a:spLocks xmlns:a="http://schemas.openxmlformats.org/drawingml/2006/main" noGrp="1"/>
          </p:cNvSpPr>
          <p:nvPr/>
        </p:nvSpPr>
        <p:spPr>
          <a:xfrm xmlns:a="http://schemas.openxmlformats.org/drawingml/2006/main">
            <a:off x="7429500" y="1924050"/>
            <a:ext cx="129540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2" name="">
            <a:extLst xmlns:a="http://schemas.openxmlformats.org/drawingml/2006/main">
              <a:ext uri="{FF2B5EF4-FFF2-40B4-BE49-F238E27FC236}">
                <a16:creationId xmlns:a16="http://schemas.microsoft.com/office/drawing/2014/main" id="{AF6B5729-3DB5-40D2-A3CE-E10453947585}"/>
              </a:ext>
            </a:extLst>
          </p:cNvPr>
          <p:cNvSpPr>
            <a:spLocks xmlns:a="http://schemas.openxmlformats.org/drawingml/2006/main" noGrp="1"/>
          </p:cNvSpPr>
          <p:nvPr/>
        </p:nvSpPr>
        <p:spPr>
          <a:xfrm xmlns:a="http://schemas.openxmlformats.org/drawingml/2006/main">
            <a:off x="1381125" y="4362450"/>
            <a:ext cx="9429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13283C"/>
                </a:solidFill>
                <a:latin typeface="Helvetica Neue"/>
                <a:ea typeface="Helvetica Neue"/>
                <a:cs typeface="Helvetica Neue"/>
              </a:defRPr>
            </a:pPr>
            <a:r>
              <a:rPr sz="1800" b="0">
                <a:solidFill>
                  <a:srgbClr val="13283C"/>
                </a:solidFill>
                <a:latin typeface="Helvetica Neue"/>
                <a:ea typeface="Helvetica Neue"/>
                <a:cs typeface="Helvetica Neue"/>
              </a:rPr>
              <a:t>Reliability choice: multiple fallbacks improve the chance of a useful result. Clear failure messages preserve trust when the platform blocks capture.</a:t>
            </a:r>
          </a:p>
        </p:txBody>
      </p:sp>
    </p:spTree>
    <p:extLst>
      <p:ext uri="{BB962C8B-B14F-4D97-AF65-F5344CB8AC3E}">
        <p14:creationId xmlns:p14="http://schemas.microsoft.com/office/powerpoint/2010/main" val="903457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726822F-5FDD-4A36-B311-B9B98C7F3FB5}"/>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Caching keeps repeated reads quick</a:t>
            </a:r>
          </a:p>
        </p:txBody>
      </p:sp>
      <p:sp>
        <p:nvSpPr>
          <p:cNvPr id="2" name="">
            <a:extLst xmlns:a="http://schemas.openxmlformats.org/drawingml/2006/main">
              <a:ext uri="{FF2B5EF4-FFF2-40B4-BE49-F238E27FC236}">
                <a16:creationId xmlns:a16="http://schemas.microsoft.com/office/drawing/2014/main" id="{A139B048-1F6E-4424-BDFB-9361350A2990}"/>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01CD764A-D98B-4E1E-AE78-E0F8BA5109CA}"/>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560B4571-5DE0-477E-865F-D72482EBE286}"/>
              </a:ext>
            </a:extLst>
          </p:cNvPr>
          <p:cNvSpPr>
            <a:spLocks xmlns:a="http://schemas.openxmlformats.org/drawingml/2006/main" noGrp="1"/>
          </p:cNvSpPr>
          <p:nvPr/>
        </p:nvSpPr>
        <p:spPr>
          <a:xfrm xmlns:a="http://schemas.openxmlformats.org/drawingml/2006/main">
            <a:off x="914400" y="1885950"/>
            <a:ext cx="2419350" cy="66675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Database</a:t>
            </a:r>
          </a:p>
        </p:txBody>
      </p:sp>
      <p:sp>
        <p:nvSpPr>
          <p:cNvPr id="5" name="">
            <a:extLst xmlns:a="http://schemas.openxmlformats.org/drawingml/2006/main">
              <a:ext uri="{FF2B5EF4-FFF2-40B4-BE49-F238E27FC236}">
                <a16:creationId xmlns:a16="http://schemas.microsoft.com/office/drawing/2014/main" id="{63F0323F-0C16-43E7-96BF-3697BF1CE4DD}"/>
              </a:ext>
            </a:extLst>
          </p:cNvPr>
          <p:cNvSpPr>
            <a:spLocks xmlns:a="http://schemas.openxmlformats.org/drawingml/2006/main" noGrp="1"/>
          </p:cNvSpPr>
          <p:nvPr/>
        </p:nvSpPr>
        <p:spPr>
          <a:xfrm xmlns:a="http://schemas.openxmlformats.org/drawingml/2006/main">
            <a:off x="914400" y="2724150"/>
            <a:ext cx="2419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The durable source of truth</a:t>
            </a:r>
          </a:p>
        </p:txBody>
      </p:sp>
      <p:sp>
        <p:nvSpPr>
          <p:cNvPr id="6" name="">
            <a:extLst xmlns:a="http://schemas.openxmlformats.org/drawingml/2006/main">
              <a:ext uri="{FF2B5EF4-FFF2-40B4-BE49-F238E27FC236}">
                <a16:creationId xmlns:a16="http://schemas.microsoft.com/office/drawing/2014/main" id="{4DF2C6BF-E559-4E6A-B174-D39B59259860}"/>
              </a:ext>
            </a:extLst>
          </p:cNvPr>
          <p:cNvSpPr>
            <a:spLocks xmlns:a="http://schemas.openxmlformats.org/drawingml/2006/main" noGrp="1"/>
          </p:cNvSpPr>
          <p:nvPr/>
        </p:nvSpPr>
        <p:spPr>
          <a:xfrm xmlns:a="http://schemas.openxmlformats.org/drawingml/2006/main">
            <a:off x="4810125" y="1885950"/>
            <a:ext cx="2571750" cy="66675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99718"/>
          </a:bodyPr>
          <a:lstStyle xmlns:a="http://schemas.openxmlformats.org/drawingml/2006/main"/>
          <a:p xmlns:a="http://schemas.openxmlformats.org/drawingml/2006/main">
            <a:pPr algn="ct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Short-lived cache</a:t>
            </a:r>
          </a:p>
        </p:txBody>
      </p:sp>
      <p:sp>
        <p:nvSpPr>
          <p:cNvPr id="7" name="">
            <a:extLst xmlns:a="http://schemas.openxmlformats.org/drawingml/2006/main">
              <a:ext uri="{FF2B5EF4-FFF2-40B4-BE49-F238E27FC236}">
                <a16:creationId xmlns:a16="http://schemas.microsoft.com/office/drawing/2014/main" id="{D3314FB9-5ED1-411D-8B2D-622F4911D166}"/>
              </a:ext>
            </a:extLst>
          </p:cNvPr>
          <p:cNvSpPr>
            <a:spLocks xmlns:a="http://schemas.openxmlformats.org/drawingml/2006/main" noGrp="1"/>
          </p:cNvSpPr>
          <p:nvPr/>
        </p:nvSpPr>
        <p:spPr>
          <a:xfrm xmlns:a="http://schemas.openxmlformats.org/drawingml/2006/main">
            <a:off x="4810125" y="2724150"/>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825"/>
          </a:bodyPr>
          <a:lstStyle xmlns:a="http://schemas.openxmlformats.org/drawingml/2006/main"/>
          <a:p xmlns:a="http://schemas.openxmlformats.org/drawingml/2006/main">
            <a:pPr algn="ctr">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Optional Redis copy for repeated reads</a:t>
            </a:r>
          </a:p>
        </p:txBody>
      </p:sp>
      <p:sp>
        <p:nvSpPr>
          <p:cNvPr id="8" name="">
            <a:extLst xmlns:a="http://schemas.openxmlformats.org/drawingml/2006/main">
              <a:ext uri="{FF2B5EF4-FFF2-40B4-BE49-F238E27FC236}">
                <a16:creationId xmlns:a16="http://schemas.microsoft.com/office/drawing/2014/main" id="{F56D94E3-987A-4EF1-92B1-FBA1DF9264A5}"/>
              </a:ext>
            </a:extLst>
          </p:cNvPr>
          <p:cNvSpPr>
            <a:spLocks xmlns:a="http://schemas.openxmlformats.org/drawingml/2006/main" noGrp="1"/>
          </p:cNvSpPr>
          <p:nvPr/>
        </p:nvSpPr>
        <p:spPr>
          <a:xfrm xmlns:a="http://schemas.openxmlformats.org/drawingml/2006/main">
            <a:off x="8858250" y="1885950"/>
            <a:ext cx="2419350" cy="6667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Fast response</a:t>
            </a:r>
          </a:p>
        </p:txBody>
      </p:sp>
      <p:sp>
        <p:nvSpPr>
          <p:cNvPr id="9" name="">
            <a:extLst xmlns:a="http://schemas.openxmlformats.org/drawingml/2006/main">
              <a:ext uri="{FF2B5EF4-FFF2-40B4-BE49-F238E27FC236}">
                <a16:creationId xmlns:a16="http://schemas.microsoft.com/office/drawing/2014/main" id="{C8E8145B-C111-42A8-B405-AFD1F8F4FA4E}"/>
              </a:ext>
            </a:extLst>
          </p:cNvPr>
          <p:cNvSpPr>
            <a:spLocks xmlns:a="http://schemas.openxmlformats.org/drawingml/2006/main" noGrp="1"/>
          </p:cNvSpPr>
          <p:nvPr/>
        </p:nvSpPr>
        <p:spPr>
          <a:xfrm xmlns:a="http://schemas.openxmlformats.org/drawingml/2006/main">
            <a:off x="8858250" y="2724150"/>
            <a:ext cx="2419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The library feels responsive</a:t>
            </a:r>
          </a:p>
        </p:txBody>
      </p:sp>
      <p:sp>
        <p:nvSpPr>
          <p:cNvPr id="10" name="">
            <a:extLst xmlns:a="http://schemas.openxmlformats.org/drawingml/2006/main">
              <a:ext uri="{FF2B5EF4-FFF2-40B4-BE49-F238E27FC236}">
                <a16:creationId xmlns:a16="http://schemas.microsoft.com/office/drawing/2014/main" id="{FF561CE8-B00D-43FC-AF7E-3F955E92DD7A}"/>
              </a:ext>
            </a:extLst>
          </p:cNvPr>
          <p:cNvSpPr>
            <a:spLocks xmlns:a="http://schemas.openxmlformats.org/drawingml/2006/main" noGrp="1"/>
          </p:cNvSpPr>
          <p:nvPr/>
        </p:nvSpPr>
        <p:spPr>
          <a:xfrm xmlns:a="http://schemas.openxmlformats.org/drawingml/2006/main">
            <a:off x="3333750" y="2219325"/>
            <a:ext cx="1476375"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1" name="">
            <a:extLst xmlns:a="http://schemas.openxmlformats.org/drawingml/2006/main">
              <a:ext uri="{FF2B5EF4-FFF2-40B4-BE49-F238E27FC236}">
                <a16:creationId xmlns:a16="http://schemas.microsoft.com/office/drawing/2014/main" id="{1FD9AAE1-D2AB-419D-8428-62F9006DD000}"/>
              </a:ext>
            </a:extLst>
          </p:cNvPr>
          <p:cNvSpPr>
            <a:spLocks xmlns:a="http://schemas.openxmlformats.org/drawingml/2006/main" noGrp="1"/>
          </p:cNvSpPr>
          <p:nvPr/>
        </p:nvSpPr>
        <p:spPr>
          <a:xfrm xmlns:a="http://schemas.openxmlformats.org/drawingml/2006/main">
            <a:off x="7381875" y="2219325"/>
            <a:ext cx="1476375"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2" name="">
            <a:extLst xmlns:a="http://schemas.openxmlformats.org/drawingml/2006/main">
              <a:ext uri="{FF2B5EF4-FFF2-40B4-BE49-F238E27FC236}">
                <a16:creationId xmlns:a16="http://schemas.microsoft.com/office/drawing/2014/main" id="{71BFCB81-CF18-44B1-802A-0A1D93631494}"/>
              </a:ext>
            </a:extLst>
          </p:cNvPr>
          <p:cNvSpPr>
            <a:spLocks xmlns:a="http://schemas.openxmlformats.org/drawingml/2006/main" noGrp="1"/>
          </p:cNvSpPr>
          <p:nvPr/>
        </p:nvSpPr>
        <p:spPr>
          <a:xfrm xmlns:a="http://schemas.openxmlformats.org/drawingml/2006/main">
            <a:off x="1685925" y="4248150"/>
            <a:ext cx="8820150" cy="110490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92361"/>
          </a:bodyPr>
          <a:lstStyle xmlns:a="http://schemas.openxmlformats.org/drawingml/2006/main"/>
          <a:p xmlns:a="http://schemas.openxmlformats.org/drawingml/2006/main">
            <a:pPr algn="ctr">
              <a:defRPr sz="1800" b="0">
                <a:solidFill>
                  <a:srgbClr val="13283C"/>
                </a:solidFill>
                <a:latin typeface="Helvetica Neue"/>
                <a:ea typeface="Helvetica Neue"/>
                <a:cs typeface="Helvetica Neue"/>
              </a:defRPr>
            </a:pPr>
            <a:r>
              <a:rPr sz="1800" b="0">
                <a:solidFill>
                  <a:srgbClr val="13283C"/>
                </a:solidFill>
                <a:latin typeface="Helvetica Neue"/>
                <a:ea typeface="Helvetica Neue"/>
                <a:cs typeface="Helvetica Neue"/>
              </a:rPr>
              <a:t>Personal library and shelves: 60 seconds</a:t>
            </a:r>
          </a:p>
          <a:p xmlns:a="http://schemas.openxmlformats.org/drawingml/2006/main">
            <a:pPr algn="ctr">
              <a:defRPr sz="1800" b="0">
                <a:solidFill>
                  <a:srgbClr val="13283C"/>
                </a:solidFill>
                <a:latin typeface="Helvetica Neue"/>
                <a:ea typeface="Helvetica Neue"/>
                <a:cs typeface="Helvetica Neue"/>
              </a:defRPr>
            </a:pPr>
            <a:r>
              <a:rPr sz="1800" b="0">
                <a:solidFill>
                  <a:srgbClr val="13283C"/>
                </a:solidFill>
                <a:latin typeface="Helvetica Neue"/>
                <a:ea typeface="Helvetica Neue"/>
                <a:cs typeface="Helvetica Neue"/>
              </a:rPr>
              <a:t>Journal: 120 seconds</a:t>
            </a:r>
          </a:p>
          <a:p xmlns:a="http://schemas.openxmlformats.org/drawingml/2006/main">
            <a:pPr algn="ctr">
              <a:defRPr sz="1800" b="0">
                <a:solidFill>
                  <a:srgbClr val="13283C"/>
                </a:solidFill>
                <a:latin typeface="Helvetica Neue"/>
                <a:ea typeface="Helvetica Neue"/>
                <a:cs typeface="Helvetica Neue"/>
              </a:defRPr>
            </a:pPr>
            <a:r>
              <a:rPr sz="1800" b="0">
                <a:solidFill>
                  <a:srgbClr val="13283C"/>
                </a:solidFill>
                <a:latin typeface="Helvetica Neue"/>
                <a:ea typeface="Helvetica Neue"/>
                <a:cs typeface="Helvetica Neue"/>
              </a:rPr>
              <a:t>Movie and book search: 6 hours</a:t>
            </a:r>
          </a:p>
          <a:p xmlns:a="http://schemas.openxmlformats.org/drawingml/2006/main">
            <a:pPr algn="ctr">
              <a:defRPr sz="1800" b="0">
                <a:solidFill>
                  <a:srgbClr val="13283C"/>
                </a:solidFill>
                <a:latin typeface="Helvetica Neue"/>
                <a:ea typeface="Helvetica Neue"/>
                <a:cs typeface="Helvetica Neue"/>
              </a:defRPr>
            </a:pPr>
            <a:r>
              <a:rPr sz="1800" b="0">
                <a:solidFill>
                  <a:srgbClr val="13283C"/>
                </a:solidFill>
                <a:latin typeface="Helvetica Neue"/>
                <a:ea typeface="Helvetica Neue"/>
                <a:cs typeface="Helvetica Neue"/>
              </a:rPr>
              <a:t>Link preview: 7 days</a:t>
            </a:r>
          </a:p>
        </p:txBody>
      </p:sp>
    </p:spTree>
    <p:extLst>
      <p:ext uri="{BB962C8B-B14F-4D97-AF65-F5344CB8AC3E}">
        <p14:creationId xmlns:p14="http://schemas.microsoft.com/office/powerpoint/2010/main" val="4540509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756CD6-4A71-4664-A214-2CAEA56F0032}"/>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The cache protects privacy and freshness</a:t>
            </a:r>
          </a:p>
        </p:txBody>
      </p:sp>
      <p:sp>
        <p:nvSpPr>
          <p:cNvPr id="2" name="">
            <a:extLst xmlns:a="http://schemas.openxmlformats.org/drawingml/2006/main">
              <a:ext uri="{FF2B5EF4-FFF2-40B4-BE49-F238E27FC236}">
                <a16:creationId xmlns:a16="http://schemas.microsoft.com/office/drawing/2014/main" id="{D9857C60-88B6-45A6-97D2-4E8ECC8894B7}"/>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38125AB7-4667-42D9-B5FA-46A3C1B33B28}"/>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175B1DFA-18F3-4E14-8854-4DEF571151AB}"/>
              </a:ext>
            </a:extLst>
          </p:cNvPr>
          <p:cNvSpPr>
            <a:spLocks xmlns:a="http://schemas.openxmlformats.org/drawingml/2006/main" noGrp="1"/>
          </p:cNvSpPr>
          <p:nvPr/>
        </p:nvSpPr>
        <p:spPr>
          <a:xfrm xmlns:a="http://schemas.openxmlformats.org/drawingml/2006/main">
            <a:off x="952500" y="1752600"/>
            <a:ext cx="2857500" cy="64770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User scoped key</a:t>
            </a:r>
          </a:p>
        </p:txBody>
      </p:sp>
      <p:sp>
        <p:nvSpPr>
          <p:cNvPr id="5" name="">
            <a:extLst xmlns:a="http://schemas.openxmlformats.org/drawingml/2006/main">
              <a:ext uri="{FF2B5EF4-FFF2-40B4-BE49-F238E27FC236}">
                <a16:creationId xmlns:a16="http://schemas.microsoft.com/office/drawing/2014/main" id="{EF78021F-D8F5-40EC-87F8-D939CADF1AB9}"/>
              </a:ext>
            </a:extLst>
          </p:cNvPr>
          <p:cNvSpPr>
            <a:spLocks xmlns:a="http://schemas.openxmlformats.org/drawingml/2006/main" noGrp="1"/>
          </p:cNvSpPr>
          <p:nvPr/>
        </p:nvSpPr>
        <p:spPr>
          <a:xfrm xmlns:a="http://schemas.openxmlformats.org/drawingml/2006/main">
            <a:off x="952500" y="262890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quarto:v1:u:&lt;user id&gt;:...</a:t>
            </a:r>
          </a:p>
        </p:txBody>
      </p:sp>
      <p:sp>
        <p:nvSpPr>
          <p:cNvPr id="6" name="">
            <a:extLst xmlns:a="http://schemas.openxmlformats.org/drawingml/2006/main">
              <a:ext uri="{FF2B5EF4-FFF2-40B4-BE49-F238E27FC236}">
                <a16:creationId xmlns:a16="http://schemas.microsoft.com/office/drawing/2014/main" id="{A47C2C25-C4B8-4997-ABCD-BD17A308448E}"/>
              </a:ext>
            </a:extLst>
          </p:cNvPr>
          <p:cNvSpPr>
            <a:spLocks xmlns:a="http://schemas.openxmlformats.org/drawingml/2006/main" noGrp="1"/>
          </p:cNvSpPr>
          <p:nvPr/>
        </p:nvSpPr>
        <p:spPr>
          <a:xfrm xmlns:a="http://schemas.openxmlformats.org/drawingml/2006/main">
            <a:off x="4667250" y="1752600"/>
            <a:ext cx="2857500" cy="64770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Write invalidation</a:t>
            </a:r>
          </a:p>
        </p:txBody>
      </p:sp>
      <p:sp>
        <p:nvSpPr>
          <p:cNvPr id="7" name="">
            <a:extLst xmlns:a="http://schemas.openxmlformats.org/drawingml/2006/main">
              <a:ext uri="{FF2B5EF4-FFF2-40B4-BE49-F238E27FC236}">
                <a16:creationId xmlns:a16="http://schemas.microsoft.com/office/drawing/2014/main" id="{7787BAF3-45D7-4357-913F-B32095FBBDD1}"/>
              </a:ext>
            </a:extLst>
          </p:cNvPr>
          <p:cNvSpPr>
            <a:spLocks xmlns:a="http://schemas.openxmlformats.org/drawingml/2006/main" noGrp="1"/>
          </p:cNvSpPr>
          <p:nvPr/>
        </p:nvSpPr>
        <p:spPr>
          <a:xfrm xmlns:a="http://schemas.openxmlformats.org/drawingml/2006/main">
            <a:off x="4667250" y="262890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Clear that user’s cached reads</a:t>
            </a:r>
          </a:p>
        </p:txBody>
      </p:sp>
      <p:sp>
        <p:nvSpPr>
          <p:cNvPr id="8" name="">
            <a:extLst xmlns:a="http://schemas.openxmlformats.org/drawingml/2006/main">
              <a:ext uri="{FF2B5EF4-FFF2-40B4-BE49-F238E27FC236}">
                <a16:creationId xmlns:a16="http://schemas.microsoft.com/office/drawing/2014/main" id="{5F78040F-EC55-4B6A-BB75-2829481A9D65}"/>
              </a:ext>
            </a:extLst>
          </p:cNvPr>
          <p:cNvSpPr>
            <a:spLocks xmlns:a="http://schemas.openxmlformats.org/drawingml/2006/main" noGrp="1"/>
          </p:cNvSpPr>
          <p:nvPr/>
        </p:nvSpPr>
        <p:spPr>
          <a:xfrm xmlns:a="http://schemas.openxmlformats.org/drawingml/2006/main">
            <a:off x="8382000" y="1752600"/>
            <a:ext cx="2857500" cy="64770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Safe fallback</a:t>
            </a:r>
          </a:p>
        </p:txBody>
      </p:sp>
      <p:sp>
        <p:nvSpPr>
          <p:cNvPr id="9" name="">
            <a:extLst xmlns:a="http://schemas.openxmlformats.org/drawingml/2006/main">
              <a:ext uri="{FF2B5EF4-FFF2-40B4-BE49-F238E27FC236}">
                <a16:creationId xmlns:a16="http://schemas.microsoft.com/office/drawing/2014/main" id="{7BE1D4F8-B02A-4B24-9225-662570B2E82C}"/>
              </a:ext>
            </a:extLst>
          </p:cNvPr>
          <p:cNvSpPr>
            <a:spLocks xmlns:a="http://schemas.openxmlformats.org/drawingml/2006/main" noGrp="1"/>
          </p:cNvSpPr>
          <p:nvPr/>
        </p:nvSpPr>
        <p:spPr>
          <a:xfrm xmlns:a="http://schemas.openxmlformats.org/drawingml/2006/main">
            <a:off x="8382000" y="262890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729"/>
          </a:bodyPr>
          <a:lstStyle xmlns:a="http://schemas.openxmlformats.org/drawingml/2006/main"/>
          <a:p xmlns:a="http://schemas.openxmlformats.org/drawingml/2006/main">
            <a:pPr algn="ctr">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Live database read when cache fails</a:t>
            </a:r>
          </a:p>
        </p:txBody>
      </p:sp>
      <p:sp>
        <p:nvSpPr>
          <p:cNvPr id="10" name="">
            <a:extLst xmlns:a="http://schemas.openxmlformats.org/drawingml/2006/main">
              <a:ext uri="{FF2B5EF4-FFF2-40B4-BE49-F238E27FC236}">
                <a16:creationId xmlns:a16="http://schemas.microsoft.com/office/drawing/2014/main" id="{2EC02E8F-355D-454C-A376-0FBD9E8CD358}"/>
              </a:ext>
            </a:extLst>
          </p:cNvPr>
          <p:cNvSpPr>
            <a:spLocks xmlns:a="http://schemas.openxmlformats.org/drawingml/2006/main" noGrp="1"/>
          </p:cNvSpPr>
          <p:nvPr/>
        </p:nvSpPr>
        <p:spPr>
          <a:xfrm xmlns:a="http://schemas.openxmlformats.org/drawingml/2006/main">
            <a:off x="1428750" y="4343400"/>
            <a:ext cx="9334500" cy="70485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99383"/>
          </a:bodyPr>
          <a:lstStyle xmlns:a="http://schemas.openxmlformats.org/drawingml/2006/main"/>
          <a:p xmlns:a="http://schemas.openxmlformats.org/drawingml/2006/main">
            <a:pPr algn="ctr">
              <a:defRPr sz="2025" b="1">
                <a:solidFill>
                  <a:srgbClr val="13283C"/>
                </a:solidFill>
                <a:latin typeface="Helvetica Neue"/>
                <a:ea typeface="Helvetica Neue"/>
                <a:cs typeface="Helvetica Neue"/>
              </a:defRPr>
            </a:pPr>
            <a:r>
              <a:rPr sz="2025" b="1">
                <a:solidFill>
                  <a:srgbClr val="13283C"/>
                </a:solidFill>
                <a:latin typeface="Helvetica Neue"/>
                <a:ea typeface="Helvetica Neue"/>
                <a:cs typeface="Helvetica Neue"/>
              </a:rPr>
              <a:t>Result: speed improves without letting one account see another account’s saved material or leaving edits stale for long.</a:t>
            </a:r>
          </a:p>
        </p:txBody>
      </p:sp>
    </p:spTree>
    <p:extLst>
      <p:ext uri="{BB962C8B-B14F-4D97-AF65-F5344CB8AC3E}">
        <p14:creationId xmlns:p14="http://schemas.microsoft.com/office/powerpoint/2010/main" val="18431113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DDC30A-8517-4DCB-BBBC-29272C28E79A}"/>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Database indexes reflect real user actions</a:t>
            </a:r>
          </a:p>
        </p:txBody>
      </p:sp>
      <p:sp>
        <p:nvSpPr>
          <p:cNvPr id="2" name="">
            <a:extLst xmlns:a="http://schemas.openxmlformats.org/drawingml/2006/main">
              <a:ext uri="{FF2B5EF4-FFF2-40B4-BE49-F238E27FC236}">
                <a16:creationId xmlns:a16="http://schemas.microsoft.com/office/drawing/2014/main" id="{FCB2A31D-5B56-4B10-A90A-DD9485848B6E}"/>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0FB13DC8-BEF1-4FE9-8EBE-7E2B068409F4}"/>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76A19239-83CB-45A5-9FB6-09248FC31FC4}"/>
              </a:ext>
            </a:extLst>
          </p:cNvPr>
          <p:cNvSpPr>
            <a:spLocks xmlns:a="http://schemas.openxmlformats.org/drawingml/2006/main" noGrp="1"/>
          </p:cNvSpPr>
          <p:nvPr/>
        </p:nvSpPr>
        <p:spPr>
          <a:xfrm xmlns:a="http://schemas.openxmlformats.org/drawingml/2006/main">
            <a:off x="800100" y="1390650"/>
            <a:ext cx="1059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13283C"/>
                </a:solidFill>
                <a:latin typeface="Helvetica Neue"/>
                <a:ea typeface="Helvetica Neue"/>
                <a:cs typeface="Helvetica Neue"/>
              </a:defRPr>
            </a:pPr>
            <a:r>
              <a:rPr sz="2025" b="1">
                <a:solidFill>
                  <a:srgbClr val="13283C"/>
                </a:solidFill>
                <a:latin typeface="Helvetica Neue"/>
                <a:ea typeface="Helvetica Neue"/>
                <a:cs typeface="Helvetica Neue"/>
              </a:rPr>
              <a:t>A database index is a shortcut to the small section of data a request needs.</a:t>
            </a:r>
          </a:p>
        </p:txBody>
      </p:sp>
      <p:sp>
        <p:nvSpPr>
          <p:cNvPr id="5" name="">
            <a:extLst xmlns:a="http://schemas.openxmlformats.org/drawingml/2006/main">
              <a:ext uri="{FF2B5EF4-FFF2-40B4-BE49-F238E27FC236}">
                <a16:creationId xmlns:a16="http://schemas.microsoft.com/office/drawing/2014/main" id="{8817BD9E-4CC0-4037-B6D7-C2C90BD4BFAB}"/>
              </a:ext>
            </a:extLst>
          </p:cNvPr>
          <p:cNvSpPr>
            <a:spLocks xmlns:a="http://schemas.openxmlformats.org/drawingml/2006/main" noGrp="1"/>
          </p:cNvSpPr>
          <p:nvPr/>
        </p:nvSpPr>
        <p:spPr>
          <a:xfrm xmlns:a="http://schemas.openxmlformats.org/drawingml/2006/main">
            <a:off x="1000125" y="2543175"/>
            <a:ext cx="2381250" cy="51435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User ID</a:t>
            </a:r>
          </a:p>
        </p:txBody>
      </p:sp>
      <p:sp>
        <p:nvSpPr>
          <p:cNvPr id="6" name="">
            <a:extLst xmlns:a="http://schemas.openxmlformats.org/drawingml/2006/main">
              <a:ext uri="{FF2B5EF4-FFF2-40B4-BE49-F238E27FC236}">
                <a16:creationId xmlns:a16="http://schemas.microsoft.com/office/drawing/2014/main" id="{CD175EB9-1686-4C61-A5B5-FA37944B9836}"/>
              </a:ext>
            </a:extLst>
          </p:cNvPr>
          <p:cNvSpPr>
            <a:spLocks xmlns:a="http://schemas.openxmlformats.org/drawingml/2006/main" noGrp="1"/>
          </p:cNvSpPr>
          <p:nvPr/>
        </p:nvSpPr>
        <p:spPr>
          <a:xfrm xmlns:a="http://schemas.openxmlformats.org/drawingml/2006/main">
            <a:off x="1000125" y="3248025"/>
            <a:ext cx="2381250" cy="74295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3283C"/>
                </a:solidFill>
                <a:latin typeface="Helvetica Neue"/>
                <a:ea typeface="Helvetica Neue"/>
                <a:cs typeface="Helvetica Neue"/>
              </a:defRPr>
            </a:pPr>
            <a:r>
              <a:rPr sz="1500" b="0">
                <a:solidFill>
                  <a:srgbClr val="13283C"/>
                </a:solidFill>
                <a:latin typeface="Helvetica Neue"/>
                <a:ea typeface="Helvetica Neue"/>
                <a:cs typeface="Helvetica Neue"/>
              </a:rPr>
              <a:t>Find one person’s library or folders quickly.</a:t>
            </a:r>
          </a:p>
        </p:txBody>
      </p:sp>
      <p:sp>
        <p:nvSpPr>
          <p:cNvPr id="7" name="">
            <a:extLst xmlns:a="http://schemas.openxmlformats.org/drawingml/2006/main">
              <a:ext uri="{FF2B5EF4-FFF2-40B4-BE49-F238E27FC236}">
                <a16:creationId xmlns:a16="http://schemas.microsoft.com/office/drawing/2014/main" id="{AF9D874A-D7FE-4376-8DCC-0F2635B72E7C}"/>
              </a:ext>
            </a:extLst>
          </p:cNvPr>
          <p:cNvSpPr>
            <a:spLocks xmlns:a="http://schemas.openxmlformats.org/drawingml/2006/main" noGrp="1"/>
          </p:cNvSpPr>
          <p:nvPr/>
        </p:nvSpPr>
        <p:spPr>
          <a:xfrm xmlns:a="http://schemas.openxmlformats.org/drawingml/2006/main">
            <a:off x="4905375" y="2543175"/>
            <a:ext cx="2381250" cy="51435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User ID + archived</a:t>
            </a:r>
          </a:p>
        </p:txBody>
      </p:sp>
      <p:sp>
        <p:nvSpPr>
          <p:cNvPr id="8" name="">
            <a:extLst xmlns:a="http://schemas.openxmlformats.org/drawingml/2006/main">
              <a:ext uri="{FF2B5EF4-FFF2-40B4-BE49-F238E27FC236}">
                <a16:creationId xmlns:a16="http://schemas.microsoft.com/office/drawing/2014/main" id="{F5C6D928-97E6-4F0E-BAC1-8C58B8880F62}"/>
              </a:ext>
            </a:extLst>
          </p:cNvPr>
          <p:cNvSpPr>
            <a:spLocks xmlns:a="http://schemas.openxmlformats.org/drawingml/2006/main" noGrp="1"/>
          </p:cNvSpPr>
          <p:nvPr/>
        </p:nvSpPr>
        <p:spPr>
          <a:xfrm xmlns:a="http://schemas.openxmlformats.org/drawingml/2006/main">
            <a:off x="4905375" y="3248025"/>
            <a:ext cx="2381250" cy="74295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95000"/>
          </a:bodyPr>
          <a:lstStyle xmlns:a="http://schemas.openxmlformats.org/drawingml/2006/main"/>
          <a:p xmlns:a="http://schemas.openxmlformats.org/drawingml/2006/main">
            <a:pPr algn="ctr">
              <a:defRPr sz="1500" b="0">
                <a:solidFill>
                  <a:srgbClr val="13283C"/>
                </a:solidFill>
                <a:latin typeface="Helvetica Neue"/>
                <a:ea typeface="Helvetica Neue"/>
                <a:cs typeface="Helvetica Neue"/>
              </a:defRPr>
            </a:pPr>
            <a:r>
              <a:rPr sz="1500" b="0">
                <a:solidFill>
                  <a:srgbClr val="13283C"/>
                </a:solidFill>
                <a:latin typeface="Helvetica Neue"/>
                <a:ea typeface="Helvetica Neue"/>
                <a:cs typeface="Helvetica Neue"/>
              </a:rPr>
              <a:t>Open active or archived reads without scanning everything.</a:t>
            </a:r>
          </a:p>
        </p:txBody>
      </p:sp>
      <p:sp>
        <p:nvSpPr>
          <p:cNvPr id="9" name="">
            <a:extLst xmlns:a="http://schemas.openxmlformats.org/drawingml/2006/main">
              <a:ext uri="{FF2B5EF4-FFF2-40B4-BE49-F238E27FC236}">
                <a16:creationId xmlns:a16="http://schemas.microsoft.com/office/drawing/2014/main" id="{2572DD3F-6D33-4132-8929-9FDB58936CE0}"/>
              </a:ext>
            </a:extLst>
          </p:cNvPr>
          <p:cNvSpPr>
            <a:spLocks xmlns:a="http://schemas.openxmlformats.org/drawingml/2006/main" noGrp="1"/>
          </p:cNvSpPr>
          <p:nvPr/>
        </p:nvSpPr>
        <p:spPr>
          <a:xfrm xmlns:a="http://schemas.openxmlformats.org/drawingml/2006/main">
            <a:off x="8810625" y="2543175"/>
            <a:ext cx="2381250" cy="5143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86115"/>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User ID + canonical URL</a:t>
            </a:r>
          </a:p>
        </p:txBody>
      </p:sp>
      <p:sp>
        <p:nvSpPr>
          <p:cNvPr id="10" name="">
            <a:extLst xmlns:a="http://schemas.openxmlformats.org/drawingml/2006/main">
              <a:ext uri="{FF2B5EF4-FFF2-40B4-BE49-F238E27FC236}">
                <a16:creationId xmlns:a16="http://schemas.microsoft.com/office/drawing/2014/main" id="{F623C45C-0A19-4398-834A-8FB3350D542D}"/>
              </a:ext>
            </a:extLst>
          </p:cNvPr>
          <p:cNvSpPr>
            <a:spLocks xmlns:a="http://schemas.openxmlformats.org/drawingml/2006/main" noGrp="1"/>
          </p:cNvSpPr>
          <p:nvPr/>
        </p:nvSpPr>
        <p:spPr>
          <a:xfrm xmlns:a="http://schemas.openxmlformats.org/drawingml/2006/main">
            <a:off x="8810625" y="3248025"/>
            <a:ext cx="2381250" cy="742950"/>
          </a:xfrm>
          <a:prstGeom xmlns:a="http://schemas.openxmlformats.org/drawingml/2006/main" prst="rect">
            <a:avLst/>
          </a:prstGeom>
          <a:solidFill xmlns:a="http://schemas.openxmlformats.org/drawingml/2006/main">
            <a:srgbClr val="EDF7F3"/>
          </a:solidFill>
          <a:ln xmlns:a="http://schemas.openxmlformats.org/drawingml/2006/main" w="0">
            <a:noFill/>
          </a:ln>
        </p:spPr>
        <p:txBody>
          <a:bodyPr xmlns:a="http://schemas.openxmlformats.org/drawingml/2006/main" anchor="ctr">
            <a:normAutofit fontScale="95000"/>
          </a:bodyPr>
          <a:lstStyle xmlns:a="http://schemas.openxmlformats.org/drawingml/2006/main"/>
          <a:p xmlns:a="http://schemas.openxmlformats.org/drawingml/2006/main">
            <a:pPr algn="ctr">
              <a:defRPr sz="1500" b="0">
                <a:solidFill>
                  <a:srgbClr val="13283C"/>
                </a:solidFill>
                <a:latin typeface="Helvetica Neue"/>
                <a:ea typeface="Helvetica Neue"/>
                <a:cs typeface="Helvetica Neue"/>
              </a:defRPr>
            </a:pPr>
            <a:r>
              <a:rPr sz="1500" b="0">
                <a:solidFill>
                  <a:srgbClr val="13283C"/>
                </a:solidFill>
                <a:latin typeface="Helvetica Neue"/>
                <a:ea typeface="Helvetica Neue"/>
                <a:cs typeface="Helvetica Neue"/>
              </a:rPr>
              <a:t>Prevent one person from saving duplicate copies of the same article.</a:t>
            </a:r>
          </a:p>
        </p:txBody>
      </p:sp>
      <p:sp>
        <p:nvSpPr>
          <p:cNvPr id="11" name="">
            <a:extLst xmlns:a="http://schemas.openxmlformats.org/drawingml/2006/main">
              <a:ext uri="{FF2B5EF4-FFF2-40B4-BE49-F238E27FC236}">
                <a16:creationId xmlns:a16="http://schemas.microsoft.com/office/drawing/2014/main" id="{3B69F04C-CBE0-4E11-B5F9-5CA10B244240}"/>
              </a:ext>
            </a:extLst>
          </p:cNvPr>
          <p:cNvSpPr>
            <a:spLocks xmlns:a="http://schemas.openxmlformats.org/drawingml/2006/main" noGrp="1"/>
          </p:cNvSpPr>
          <p:nvPr/>
        </p:nvSpPr>
        <p:spPr>
          <a:xfrm xmlns:a="http://schemas.openxmlformats.org/drawingml/2006/main">
            <a:off x="1362075" y="4953000"/>
            <a:ext cx="9467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02"/>
          </a:bodyPr>
          <a:lstStyle xmlns:a="http://schemas.openxmlformats.org/drawingml/2006/main"/>
          <a:p xmlns:a="http://schemas.openxmlformats.org/drawingml/2006/main">
            <a:pPr algn="ctr">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Trade-off: indexes make reads faster while adding modest work when KAMI saves or updates a record.</a:t>
            </a:r>
          </a:p>
        </p:txBody>
      </p:sp>
    </p:spTree>
    <p:extLst>
      <p:ext uri="{BB962C8B-B14F-4D97-AF65-F5344CB8AC3E}">
        <p14:creationId xmlns:p14="http://schemas.microsoft.com/office/powerpoint/2010/main" val="2040716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A13BEEB-CA9A-4F93-953B-07BDC4E0B4BA}"/>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Privacy and safety shape the architecture</a:t>
            </a:r>
          </a:p>
        </p:txBody>
      </p:sp>
      <p:sp>
        <p:nvSpPr>
          <p:cNvPr id="2" name="">
            <a:extLst xmlns:a="http://schemas.openxmlformats.org/drawingml/2006/main">
              <a:ext uri="{FF2B5EF4-FFF2-40B4-BE49-F238E27FC236}">
                <a16:creationId xmlns:a16="http://schemas.microsoft.com/office/drawing/2014/main" id="{3D3CDDEF-9D1C-4BDB-946B-CAA1A1D6E139}"/>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CDF58CA5-9CFB-4273-8CB0-B404BABA6BA8}"/>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0FB22EE3-9C6A-4B8D-B6B7-57A119090C58}"/>
              </a:ext>
            </a:extLst>
          </p:cNvPr>
          <p:cNvSpPr>
            <a:spLocks xmlns:a="http://schemas.openxmlformats.org/drawingml/2006/main" noGrp="1"/>
          </p:cNvSpPr>
          <p:nvPr/>
        </p:nvSpPr>
        <p:spPr>
          <a:xfrm xmlns:a="http://schemas.openxmlformats.org/drawingml/2006/main">
            <a:off x="857250" y="1809750"/>
            <a:ext cx="514350" cy="51435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705B6DE0-7DEF-477B-9942-62D39B644C48}"/>
              </a:ext>
            </a:extLst>
          </p:cNvPr>
          <p:cNvSpPr>
            <a:spLocks xmlns:a="http://schemas.openxmlformats.org/drawingml/2006/main" noGrp="1"/>
          </p:cNvSpPr>
          <p:nvPr/>
        </p:nvSpPr>
        <p:spPr>
          <a:xfrm xmlns:a="http://schemas.openxmlformats.org/drawingml/2006/main">
            <a:off x="85725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Authenticate</a:t>
            </a:r>
          </a:p>
        </p:txBody>
      </p:sp>
      <p:sp>
        <p:nvSpPr>
          <p:cNvPr id="6" name="">
            <a:extLst xmlns:a="http://schemas.openxmlformats.org/drawingml/2006/main">
              <a:ext uri="{FF2B5EF4-FFF2-40B4-BE49-F238E27FC236}">
                <a16:creationId xmlns:a16="http://schemas.microsoft.com/office/drawing/2014/main" id="{A8D26353-7408-42B4-BE25-5E275658368C}"/>
              </a:ext>
            </a:extLst>
          </p:cNvPr>
          <p:cNvSpPr>
            <a:spLocks xmlns:a="http://schemas.openxmlformats.org/drawingml/2006/main" noGrp="1"/>
          </p:cNvSpPr>
          <p:nvPr/>
        </p:nvSpPr>
        <p:spPr>
          <a:xfrm xmlns:a="http://schemas.openxmlformats.org/drawingml/2006/main">
            <a:off x="85725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Server middleware gets the signed-in user identity.</a:t>
            </a:r>
          </a:p>
        </p:txBody>
      </p:sp>
      <p:sp>
        <p:nvSpPr>
          <p:cNvPr id="7" name="">
            <a:extLst xmlns:a="http://schemas.openxmlformats.org/drawingml/2006/main">
              <a:ext uri="{FF2B5EF4-FFF2-40B4-BE49-F238E27FC236}">
                <a16:creationId xmlns:a16="http://schemas.microsoft.com/office/drawing/2014/main" id="{F32E1DA4-6707-4938-9E8F-916212FD9A90}"/>
              </a:ext>
            </a:extLst>
          </p:cNvPr>
          <p:cNvSpPr>
            <a:spLocks xmlns:a="http://schemas.openxmlformats.org/drawingml/2006/main" noGrp="1"/>
          </p:cNvSpPr>
          <p:nvPr/>
        </p:nvSpPr>
        <p:spPr>
          <a:xfrm xmlns:a="http://schemas.openxmlformats.org/drawingml/2006/main">
            <a:off x="3524250" y="1809750"/>
            <a:ext cx="514350" cy="51435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755F4BF2-F5CD-4C36-AC77-C8DDB7171E01}"/>
              </a:ext>
            </a:extLst>
          </p:cNvPr>
          <p:cNvSpPr>
            <a:spLocks xmlns:a="http://schemas.openxmlformats.org/drawingml/2006/main" noGrp="1"/>
          </p:cNvSpPr>
          <p:nvPr/>
        </p:nvSpPr>
        <p:spPr>
          <a:xfrm xmlns:a="http://schemas.openxmlformats.org/drawingml/2006/main">
            <a:off x="352425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Scope data</a:t>
            </a:r>
          </a:p>
        </p:txBody>
      </p:sp>
      <p:sp>
        <p:nvSpPr>
          <p:cNvPr id="9" name="">
            <a:extLst xmlns:a="http://schemas.openxmlformats.org/drawingml/2006/main">
              <a:ext uri="{FF2B5EF4-FFF2-40B4-BE49-F238E27FC236}">
                <a16:creationId xmlns:a16="http://schemas.microsoft.com/office/drawing/2014/main" id="{CAB6C512-FC4A-40F1-A03C-411C97291285}"/>
              </a:ext>
            </a:extLst>
          </p:cNvPr>
          <p:cNvSpPr>
            <a:spLocks xmlns:a="http://schemas.openxmlformats.org/drawingml/2006/main" noGrp="1"/>
          </p:cNvSpPr>
          <p:nvPr/>
        </p:nvSpPr>
        <p:spPr>
          <a:xfrm xmlns:a="http://schemas.openxmlformats.org/drawingml/2006/main">
            <a:off x="352425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Each read and write uses that identity.</a:t>
            </a:r>
          </a:p>
        </p:txBody>
      </p:sp>
      <p:sp>
        <p:nvSpPr>
          <p:cNvPr id="10" name="">
            <a:extLst xmlns:a="http://schemas.openxmlformats.org/drawingml/2006/main">
              <a:ext uri="{FF2B5EF4-FFF2-40B4-BE49-F238E27FC236}">
                <a16:creationId xmlns:a16="http://schemas.microsoft.com/office/drawing/2014/main" id="{2311D7BB-F475-44D3-B8E4-F0817A733C34}"/>
              </a:ext>
            </a:extLst>
          </p:cNvPr>
          <p:cNvSpPr>
            <a:spLocks xmlns:a="http://schemas.openxmlformats.org/drawingml/2006/main" noGrp="1"/>
          </p:cNvSpPr>
          <p:nvPr/>
        </p:nvSpPr>
        <p:spPr>
          <a:xfrm xmlns:a="http://schemas.openxmlformats.org/drawingml/2006/main">
            <a:off x="6191250" y="1809750"/>
            <a:ext cx="514350" cy="5143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1F3F3DD3-55A2-409E-8D3B-A4B7BD9CD22C}"/>
              </a:ext>
            </a:extLst>
          </p:cNvPr>
          <p:cNvSpPr>
            <a:spLocks xmlns:a="http://schemas.openxmlformats.org/drawingml/2006/main" noGrp="1"/>
          </p:cNvSpPr>
          <p:nvPr/>
        </p:nvSpPr>
        <p:spPr>
          <a:xfrm xmlns:a="http://schemas.openxmlformats.org/drawingml/2006/main">
            <a:off x="619125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69"/>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Treat content carefully</a:t>
            </a:r>
          </a:p>
        </p:txBody>
      </p:sp>
      <p:sp>
        <p:nvSpPr>
          <p:cNvPr id="12" name="">
            <a:extLst xmlns:a="http://schemas.openxmlformats.org/drawingml/2006/main">
              <a:ext uri="{FF2B5EF4-FFF2-40B4-BE49-F238E27FC236}">
                <a16:creationId xmlns:a16="http://schemas.microsoft.com/office/drawing/2014/main" id="{D878B932-7A46-4244-8571-BC58A2EFEF13}"/>
              </a:ext>
            </a:extLst>
          </p:cNvPr>
          <p:cNvSpPr>
            <a:spLocks xmlns:a="http://schemas.openxmlformats.org/drawingml/2006/main" noGrp="1"/>
          </p:cNvSpPr>
          <p:nvPr/>
        </p:nvSpPr>
        <p:spPr>
          <a:xfrm xmlns:a="http://schemas.openxmlformats.org/drawingml/2006/main">
            <a:off x="619125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Sanitize copied HTML before showing it.</a:t>
            </a:r>
          </a:p>
        </p:txBody>
      </p:sp>
      <p:sp>
        <p:nvSpPr>
          <p:cNvPr id="13" name="">
            <a:extLst xmlns:a="http://schemas.openxmlformats.org/drawingml/2006/main">
              <a:ext uri="{FF2B5EF4-FFF2-40B4-BE49-F238E27FC236}">
                <a16:creationId xmlns:a16="http://schemas.microsoft.com/office/drawing/2014/main" id="{C3F37824-72B8-4B18-AF92-3CE6FA015398}"/>
              </a:ext>
            </a:extLst>
          </p:cNvPr>
          <p:cNvSpPr>
            <a:spLocks xmlns:a="http://schemas.openxmlformats.org/drawingml/2006/main" noGrp="1"/>
          </p:cNvSpPr>
          <p:nvPr/>
        </p:nvSpPr>
        <p:spPr>
          <a:xfrm xmlns:a="http://schemas.openxmlformats.org/drawingml/2006/main">
            <a:off x="8858250" y="1809750"/>
            <a:ext cx="514350" cy="514350"/>
          </a:xfrm>
          <a:prstGeom xmlns:a="http://schemas.openxmlformats.org/drawingml/2006/main" prst="rect">
            <a:avLst/>
          </a:prstGeom>
          <a:solidFill xmlns:a="http://schemas.openxmlformats.org/drawingml/2006/main">
            <a:srgbClr val="A34B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FD44C9F1-C8D4-45E1-B0C3-D690AC348135}"/>
              </a:ext>
            </a:extLst>
          </p:cNvPr>
          <p:cNvSpPr>
            <a:spLocks xmlns:a="http://schemas.openxmlformats.org/drawingml/2006/main" noGrp="1"/>
          </p:cNvSpPr>
          <p:nvPr/>
        </p:nvSpPr>
        <p:spPr>
          <a:xfrm xmlns:a="http://schemas.openxmlformats.org/drawingml/2006/main">
            <a:off x="885825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Limit network risk</a:t>
            </a:r>
          </a:p>
        </p:txBody>
      </p:sp>
      <p:sp>
        <p:nvSpPr>
          <p:cNvPr id="15" name="">
            <a:extLst xmlns:a="http://schemas.openxmlformats.org/drawingml/2006/main">
              <a:ext uri="{FF2B5EF4-FFF2-40B4-BE49-F238E27FC236}">
                <a16:creationId xmlns:a16="http://schemas.microsoft.com/office/drawing/2014/main" id="{2528FAF1-FAFA-4276-B6D3-AD04204C43C8}"/>
              </a:ext>
            </a:extLst>
          </p:cNvPr>
          <p:cNvSpPr>
            <a:spLocks xmlns:a="http://schemas.openxmlformats.org/drawingml/2006/main" noGrp="1"/>
          </p:cNvSpPr>
          <p:nvPr/>
        </p:nvSpPr>
        <p:spPr>
          <a:xfrm xmlns:a="http://schemas.openxmlformats.org/drawingml/2006/main">
            <a:off x="885825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Reject private addresses and unsafe redirects.</a:t>
            </a:r>
          </a:p>
        </p:txBody>
      </p:sp>
      <p:sp>
        <p:nvSpPr>
          <p:cNvPr id="16" name="">
            <a:extLst xmlns:a="http://schemas.openxmlformats.org/drawingml/2006/main">
              <a:ext uri="{FF2B5EF4-FFF2-40B4-BE49-F238E27FC236}">
                <a16:creationId xmlns:a16="http://schemas.microsoft.com/office/drawing/2014/main" id="{B68D87B4-7C3B-4BC6-BC5C-D4570767E878}"/>
              </a:ext>
            </a:extLst>
          </p:cNvPr>
          <p:cNvSpPr>
            <a:spLocks xmlns:a="http://schemas.openxmlformats.org/drawingml/2006/main" noGrp="1"/>
          </p:cNvSpPr>
          <p:nvPr/>
        </p:nvSpPr>
        <p:spPr>
          <a:xfrm xmlns:a="http://schemas.openxmlformats.org/drawingml/2006/main">
            <a:off x="1524000" y="5048250"/>
            <a:ext cx="914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391"/>
          </a:bodyPr>
          <a:lstStyle xmlns:a="http://schemas.openxmlformats.org/drawingml/2006/main"/>
          <a:p xmlns:a="http://schemas.openxmlformats.org/drawingml/2006/main">
            <a:pPr algn="ctr">
              <a:defRPr sz="2025" b="1">
                <a:solidFill>
                  <a:srgbClr val="13283C"/>
                </a:solidFill>
                <a:latin typeface="Helvetica Neue"/>
                <a:ea typeface="Helvetica Neue"/>
                <a:cs typeface="Helvetica Neue"/>
              </a:defRPr>
            </a:pPr>
            <a:r>
              <a:rPr sz="2025" b="1">
                <a:solidFill>
                  <a:srgbClr val="13283C"/>
                </a:solidFill>
                <a:latin typeface="Helvetica Neue"/>
                <a:ea typeface="Helvetica Neue"/>
                <a:cs typeface="Helvetica Neue"/>
              </a:rPr>
              <a:t>These choices support the product promise that a personal library stays personal.</a:t>
            </a:r>
          </a:p>
        </p:txBody>
      </p:sp>
    </p:spTree>
    <p:extLst>
      <p:ext uri="{BB962C8B-B14F-4D97-AF65-F5344CB8AC3E}">
        <p14:creationId xmlns:p14="http://schemas.microsoft.com/office/powerpoint/2010/main" val="201703173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B08B98-2A1A-4AAF-8F7D-31CF7596D5C9}"/>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A short demo narrative</a:t>
            </a:r>
          </a:p>
        </p:txBody>
      </p:sp>
      <p:sp>
        <p:nvSpPr>
          <p:cNvPr id="2" name="">
            <a:extLst xmlns:a="http://schemas.openxmlformats.org/drawingml/2006/main">
              <a:ext uri="{FF2B5EF4-FFF2-40B4-BE49-F238E27FC236}">
                <a16:creationId xmlns:a16="http://schemas.microsoft.com/office/drawing/2014/main" id="{CD9F42A9-2995-4409-9516-E9D9FFA646D3}"/>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F230D357-8BFD-4D8C-BCFA-FBB02A7B655E}"/>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7A5F97FF-ED6B-467F-8F36-7B03D8289742}"/>
              </a:ext>
            </a:extLst>
          </p:cNvPr>
          <p:cNvSpPr>
            <a:spLocks xmlns:a="http://schemas.openxmlformats.org/drawingml/2006/main" noGrp="1"/>
          </p:cNvSpPr>
          <p:nvPr/>
        </p:nvSpPr>
        <p:spPr>
          <a:xfrm xmlns:a="http://schemas.openxmlformats.org/drawingml/2006/main">
            <a:off x="914400" y="1790700"/>
            <a:ext cx="3048000" cy="78105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1. Save a link</a:t>
            </a:r>
          </a:p>
        </p:txBody>
      </p:sp>
      <p:sp>
        <p:nvSpPr>
          <p:cNvPr id="5" name="">
            <a:extLst xmlns:a="http://schemas.openxmlformats.org/drawingml/2006/main">
              <a:ext uri="{FF2B5EF4-FFF2-40B4-BE49-F238E27FC236}">
                <a16:creationId xmlns:a16="http://schemas.microsoft.com/office/drawing/2014/main" id="{0801CD3D-448D-4601-B10B-1F13B0F27CCA}"/>
              </a:ext>
            </a:extLst>
          </p:cNvPr>
          <p:cNvSpPr>
            <a:spLocks xmlns:a="http://schemas.openxmlformats.org/drawingml/2006/main" noGrp="1"/>
          </p:cNvSpPr>
          <p:nvPr/>
        </p:nvSpPr>
        <p:spPr>
          <a:xfrm xmlns:a="http://schemas.openxmlformats.org/drawingml/2006/main">
            <a:off x="4572000" y="1790700"/>
            <a:ext cx="3048000" cy="78105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2. Show the clean reader</a:t>
            </a:r>
          </a:p>
        </p:txBody>
      </p:sp>
      <p:sp>
        <p:nvSpPr>
          <p:cNvPr id="6" name="">
            <a:extLst xmlns:a="http://schemas.openxmlformats.org/drawingml/2006/main">
              <a:ext uri="{FF2B5EF4-FFF2-40B4-BE49-F238E27FC236}">
                <a16:creationId xmlns:a16="http://schemas.microsoft.com/office/drawing/2014/main" id="{FB1ED5C8-C6CC-4D2C-B7F9-6CA5DCE707B0}"/>
              </a:ext>
            </a:extLst>
          </p:cNvPr>
          <p:cNvSpPr>
            <a:spLocks xmlns:a="http://schemas.openxmlformats.org/drawingml/2006/main" noGrp="1"/>
          </p:cNvSpPr>
          <p:nvPr/>
        </p:nvSpPr>
        <p:spPr>
          <a:xfrm xmlns:a="http://schemas.openxmlformats.org/drawingml/2006/main">
            <a:off x="8229600" y="1790700"/>
            <a:ext cx="3048000" cy="7810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3. Return to the library</a:t>
            </a:r>
          </a:p>
        </p:txBody>
      </p:sp>
      <p:sp>
        <p:nvSpPr>
          <p:cNvPr id="7" name="">
            <a:extLst xmlns:a="http://schemas.openxmlformats.org/drawingml/2006/main">
              <a:ext uri="{FF2B5EF4-FFF2-40B4-BE49-F238E27FC236}">
                <a16:creationId xmlns:a16="http://schemas.microsoft.com/office/drawing/2014/main" id="{D6C38558-3382-48CE-BF3E-06C38AEBCEF8}"/>
              </a:ext>
            </a:extLst>
          </p:cNvPr>
          <p:cNvSpPr>
            <a:spLocks xmlns:a="http://schemas.openxmlformats.org/drawingml/2006/main" noGrp="1"/>
          </p:cNvSpPr>
          <p:nvPr/>
        </p:nvSpPr>
        <p:spPr>
          <a:xfrm xmlns:a="http://schemas.openxmlformats.org/drawingml/2006/main">
            <a:off x="1524000" y="3771900"/>
            <a:ext cx="9144000" cy="104775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0">
                <a:solidFill>
                  <a:srgbClr val="13283C"/>
                </a:solidFill>
                <a:latin typeface="Helvetica Neue"/>
                <a:ea typeface="Helvetica Neue"/>
                <a:cs typeface="Helvetica Neue"/>
              </a:defRPr>
            </a:pPr>
            <a:r>
              <a:rPr sz="2025" b="0">
                <a:solidFill>
                  <a:srgbClr val="13283C"/>
                </a:solidFill>
                <a:latin typeface="Helvetica Neue"/>
                <a:ea typeface="Helvetica Neue"/>
                <a:cs typeface="Helvetica Neue"/>
              </a:rPr>
              <a:t>Narrate what the audience can see:</a:t>
            </a:r>
          </a:p>
          <a:p xmlns:a="http://schemas.openxmlformats.org/drawingml/2006/main">
            <a:pPr algn="ctr">
              <a:defRPr sz="2025" b="0">
                <a:solidFill>
                  <a:srgbClr val="13283C"/>
                </a:solidFill>
                <a:latin typeface="Helvetica Neue"/>
                <a:ea typeface="Helvetica Neue"/>
                <a:cs typeface="Helvetica Neue"/>
              </a:defRPr>
            </a:pPr>
            <a:r>
              <a:rPr sz="2025" b="0">
                <a:solidFill>
                  <a:srgbClr val="13283C"/>
                </a:solidFill>
                <a:latin typeface="Helvetica Neue"/>
                <a:ea typeface="Helvetica Neue"/>
                <a:cs typeface="Helvetica Neue"/>
              </a:rPr>
              <a:t>The original link becomes a readable item. The item carries enough context to find later. The library stays private to the signed-in account.</a:t>
            </a:r>
          </a:p>
        </p:txBody>
      </p:sp>
    </p:spTree>
    <p:extLst>
      <p:ext uri="{BB962C8B-B14F-4D97-AF65-F5344CB8AC3E}">
        <p14:creationId xmlns:p14="http://schemas.microsoft.com/office/powerpoint/2010/main" val="2637695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F68EDA1-F573-40BF-A4F1-454F060FCF21}"/>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What I would build next</a:t>
            </a:r>
          </a:p>
        </p:txBody>
      </p:sp>
      <p:sp>
        <p:nvSpPr>
          <p:cNvPr id="2" name="">
            <a:extLst xmlns:a="http://schemas.openxmlformats.org/drawingml/2006/main">
              <a:ext uri="{FF2B5EF4-FFF2-40B4-BE49-F238E27FC236}">
                <a16:creationId xmlns:a16="http://schemas.microsoft.com/office/drawing/2014/main" id="{8C9A9591-FCB4-4F4E-AE8F-0F3444603311}"/>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0960646E-3181-4654-844D-E6367B4E1278}"/>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E48456B3-F45C-48E4-AC9E-BE09E713F408}"/>
              </a:ext>
            </a:extLst>
          </p:cNvPr>
          <p:cNvSpPr>
            <a:spLocks xmlns:a="http://schemas.openxmlformats.org/drawingml/2006/main" noGrp="1"/>
          </p:cNvSpPr>
          <p:nvPr/>
        </p:nvSpPr>
        <p:spPr>
          <a:xfrm xmlns:a="http://schemas.openxmlformats.org/drawingml/2006/main">
            <a:off x="895350" y="1828800"/>
            <a:ext cx="2952750" cy="49530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Capture quality</a:t>
            </a:r>
          </a:p>
        </p:txBody>
      </p:sp>
      <p:sp>
        <p:nvSpPr>
          <p:cNvPr id="5" name="">
            <a:extLst xmlns:a="http://schemas.openxmlformats.org/drawingml/2006/main">
              <a:ext uri="{FF2B5EF4-FFF2-40B4-BE49-F238E27FC236}">
                <a16:creationId xmlns:a16="http://schemas.microsoft.com/office/drawing/2014/main" id="{656E3CF4-A2AD-4B7E-AE69-BCB6841CA0E8}"/>
              </a:ext>
            </a:extLst>
          </p:cNvPr>
          <p:cNvSpPr>
            <a:spLocks xmlns:a="http://schemas.openxmlformats.org/drawingml/2006/main" noGrp="1"/>
          </p:cNvSpPr>
          <p:nvPr/>
        </p:nvSpPr>
        <p:spPr>
          <a:xfrm xmlns:a="http://schemas.openxmlformats.org/drawingml/2006/main">
            <a:off x="895350" y="2514600"/>
            <a:ext cx="2952750" cy="1000125"/>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Measure extraction success by source and give users a clear recovery path.</a:t>
            </a:r>
          </a:p>
        </p:txBody>
      </p:sp>
      <p:sp>
        <p:nvSpPr>
          <p:cNvPr id="6" name="">
            <a:extLst xmlns:a="http://schemas.openxmlformats.org/drawingml/2006/main">
              <a:ext uri="{FF2B5EF4-FFF2-40B4-BE49-F238E27FC236}">
                <a16:creationId xmlns:a16="http://schemas.microsoft.com/office/drawing/2014/main" id="{7CDB132A-B371-4B3F-8089-6F33270976FE}"/>
              </a:ext>
            </a:extLst>
          </p:cNvPr>
          <p:cNvSpPr>
            <a:spLocks xmlns:a="http://schemas.openxmlformats.org/drawingml/2006/main" noGrp="1"/>
          </p:cNvSpPr>
          <p:nvPr/>
        </p:nvSpPr>
        <p:spPr>
          <a:xfrm xmlns:a="http://schemas.openxmlformats.org/drawingml/2006/main">
            <a:off x="4619625" y="1828800"/>
            <a:ext cx="2952750" cy="49530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Library discovery</a:t>
            </a:r>
          </a:p>
        </p:txBody>
      </p:sp>
      <p:sp>
        <p:nvSpPr>
          <p:cNvPr id="7" name="">
            <a:extLst xmlns:a="http://schemas.openxmlformats.org/drawingml/2006/main">
              <a:ext uri="{FF2B5EF4-FFF2-40B4-BE49-F238E27FC236}">
                <a16:creationId xmlns:a16="http://schemas.microsoft.com/office/drawing/2014/main" id="{1447134B-06DC-4FEB-8B05-6B8861B4108D}"/>
              </a:ext>
            </a:extLst>
          </p:cNvPr>
          <p:cNvSpPr>
            <a:spLocks xmlns:a="http://schemas.openxmlformats.org/drawingml/2006/main" noGrp="1"/>
          </p:cNvSpPr>
          <p:nvPr/>
        </p:nvSpPr>
        <p:spPr>
          <a:xfrm xmlns:a="http://schemas.openxmlformats.org/drawingml/2006/main">
            <a:off x="4619625" y="2514600"/>
            <a:ext cx="2952750" cy="1000125"/>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Add search and stronger organization as saved material grows.</a:t>
            </a:r>
          </a:p>
        </p:txBody>
      </p:sp>
      <p:sp>
        <p:nvSpPr>
          <p:cNvPr id="8" name="">
            <a:extLst xmlns:a="http://schemas.openxmlformats.org/drawingml/2006/main">
              <a:ext uri="{FF2B5EF4-FFF2-40B4-BE49-F238E27FC236}">
                <a16:creationId xmlns:a16="http://schemas.microsoft.com/office/drawing/2014/main" id="{182922F4-D5B2-4C57-83F1-A974000348A9}"/>
              </a:ext>
            </a:extLst>
          </p:cNvPr>
          <p:cNvSpPr>
            <a:spLocks xmlns:a="http://schemas.openxmlformats.org/drawingml/2006/main" noGrp="1"/>
          </p:cNvSpPr>
          <p:nvPr/>
        </p:nvSpPr>
        <p:spPr>
          <a:xfrm xmlns:a="http://schemas.openxmlformats.org/drawingml/2006/main">
            <a:off x="8343900" y="1828800"/>
            <a:ext cx="2952750" cy="49530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Operational confidence</a:t>
            </a:r>
          </a:p>
        </p:txBody>
      </p:sp>
      <p:sp>
        <p:nvSpPr>
          <p:cNvPr id="9" name="">
            <a:extLst xmlns:a="http://schemas.openxmlformats.org/drawingml/2006/main">
              <a:ext uri="{FF2B5EF4-FFF2-40B4-BE49-F238E27FC236}">
                <a16:creationId xmlns:a16="http://schemas.microsoft.com/office/drawing/2014/main" id="{1096A909-5FE4-49DD-A953-CB7D8AAF4F74}"/>
              </a:ext>
            </a:extLst>
          </p:cNvPr>
          <p:cNvSpPr>
            <a:spLocks xmlns:a="http://schemas.openxmlformats.org/drawingml/2006/main" noGrp="1"/>
          </p:cNvSpPr>
          <p:nvPr/>
        </p:nvSpPr>
        <p:spPr>
          <a:xfrm xmlns:a="http://schemas.openxmlformats.org/drawingml/2006/main">
            <a:off x="8343900" y="2514600"/>
            <a:ext cx="2952750" cy="1000125"/>
          </a:xfrm>
          <a:prstGeom xmlns:a="http://schemas.openxmlformats.org/drawingml/2006/main" prst="rect">
            <a:avLst/>
          </a:prstGeom>
          <a:solidFill xmlns:a="http://schemas.openxmlformats.org/drawingml/2006/main">
            <a:srgbClr val="EDF7F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Track latency, cache behavior, and failures in the capture pipeline.</a:t>
            </a:r>
          </a:p>
        </p:txBody>
      </p:sp>
      <p:sp>
        <p:nvSpPr>
          <p:cNvPr id="10" name="">
            <a:extLst xmlns:a="http://schemas.openxmlformats.org/drawingml/2006/main">
              <a:ext uri="{FF2B5EF4-FFF2-40B4-BE49-F238E27FC236}">
                <a16:creationId xmlns:a16="http://schemas.microsoft.com/office/drawing/2014/main" id="{F179ECCC-9C00-4C5E-8990-0712F0852F03}"/>
              </a:ext>
            </a:extLst>
          </p:cNvPr>
          <p:cNvSpPr>
            <a:spLocks xmlns:a="http://schemas.openxmlformats.org/drawingml/2006/main" noGrp="1"/>
          </p:cNvSpPr>
          <p:nvPr/>
        </p:nvSpPr>
        <p:spPr>
          <a:xfrm xmlns:a="http://schemas.openxmlformats.org/drawingml/2006/main">
            <a:off x="781050" y="5000625"/>
            <a:ext cx="10629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00" b="1">
                <a:solidFill>
                  <a:srgbClr val="13283C"/>
                </a:solidFill>
                <a:latin typeface="Helvetica Neue"/>
                <a:ea typeface="Helvetica Neue"/>
                <a:cs typeface="Helvetica Neue"/>
              </a:defRPr>
            </a:pPr>
            <a:r>
              <a:rPr sz="2700" b="1">
                <a:solidFill>
                  <a:srgbClr val="13283C"/>
                </a:solidFill>
                <a:latin typeface="Helvetica Neue"/>
                <a:ea typeface="Helvetica Neue"/>
                <a:cs typeface="Helvetica Neue"/>
              </a:rPr>
              <a:t>Questions</a:t>
            </a:r>
          </a:p>
        </p:txBody>
      </p:sp>
    </p:spTree>
    <p:extLst>
      <p:ext uri="{BB962C8B-B14F-4D97-AF65-F5344CB8AC3E}">
        <p14:creationId xmlns:p14="http://schemas.microsoft.com/office/powerpoint/2010/main" val="6739135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2026-09-30T12:58:09.4990000Z</dcterms:created>
  <dcterms:modified xsi:type="dcterms:W3CDTF">2026-09-30T12:58:09.4990000Z</dcterms:modified>
</coreProperties>
</file>